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9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5" d="100"/>
          <a:sy n="95" d="100"/>
        </p:scale>
        <p:origin x="55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2CF5-77D5-94B0-C784-0F897BB79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F3136-1C64-420B-0FB9-496A18712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EC92C-F9CC-91E1-54F5-63BA3028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F0155-519F-E5E4-2025-9B10A191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36485-882B-C6E9-E976-6F34A657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40581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2007-3DA4-C713-6B84-F0E1728B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F62-E768-69EE-F33D-A1FAC5598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0EA8-9D79-43F5-11E0-4699DED6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1D6D-F79C-6784-6614-29F5D5E9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7FE42-6486-87D1-ECBA-0EE2738C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56011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95A3-0C13-7A60-4A5B-95408D15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009B7-FD60-47A8-DD6E-4EC12E148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D683E-7DC6-5F74-3F60-6673984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EF7B0-B6CA-C80A-CDD0-52F29617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6F4D-3EF4-4923-943A-A607215B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16640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69A0-6991-0E33-307A-A88ED521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417FD-CB7A-23C9-7695-AFA454D7A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70AF6-6B7C-9EC7-9E83-08BC4532C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03D11-F6C6-348D-9F51-7917F487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0D5E3-CD0C-24BB-3026-7B40DCC8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9D160-6837-CF55-38A5-AEBA4F20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2482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4789-11BB-A58B-816E-D6802287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BCE01-B750-912A-60AC-ACCA5BB97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DEB33-F2A6-CE95-0F04-0A20AE569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A9875-6E31-AE88-934B-663A97C74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A4EA8-E1FD-7C0A-EADE-8378FA911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6EC34-E9F9-5D43-5178-8D9774FB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D1EC4-E3DC-D1A9-FB29-5997DE79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EF38C-4F60-A771-7C0D-A375D8C5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26544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F807-373A-08B3-9AAD-6ACCEEA2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00110-AB1E-AA3A-7CE5-4EE2BE88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41EB-73E3-7542-12FA-03C7D7DC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35CD8-DCF4-0615-E5B4-EC0F13D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94025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C73B87-7C2C-557F-1D2E-2DC17E3D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4E848-BD87-8872-D219-36AD3008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0F8FA-424B-C09C-F062-F0C17EF6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75265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43C5-7513-F6D5-CA95-C0D3D5BE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7B37A-424C-5B2F-0817-FEB50E285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26FD5-A367-48DF-D5FD-B92C59CE6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6CEED-53AB-589B-A660-948F2818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AE015-3C81-A72E-69A6-D8E578AF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E4244-DAA0-3085-AB7D-9CCF5920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270752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78BD-E40E-0860-0E9D-C5225E18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CE9D5-F99F-F22A-627C-057B1971D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E6A1B-EF2C-49AB-5D89-F2A593D53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69976-A3F3-05ED-4768-2254B572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DACC-D582-FF99-DEA4-39220409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B9E73-58CA-08AF-BCF6-D6135456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3738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95CF-DA11-1FED-CC94-2D8C6C47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FE60A-3726-EBB1-4AA6-B225E8FF0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549E1-48A6-0DE2-8B8E-6E8B9FC9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AC7AB-EB3D-CEE1-72EC-869A724D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3BD2E-590D-DF9E-06DE-36231E41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03486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62F59-A8C8-98C5-F80B-9BFA432D8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79CF6-0A64-7F66-5C62-A9B32FBBB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CA942-9875-2BA7-E204-44515AEB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0E4B8-5062-27A3-A9F6-3E221AAD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C203-0EF6-4E5B-5B66-F73C450C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9887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D98E5-4AA4-F3FD-2A0E-FA49A608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64EB9-7B97-A837-9177-66442A168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D1526-277A-3E78-A6D1-58E3F8EB5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FC4EC-67CA-1A47-8462-DA62D1C2DA41}" type="datetimeFigureOut">
              <a:rPr lang="en-GE" smtClean="0"/>
              <a:t>10.09.25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CEC83-0110-C1FF-95D2-7EF20049C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A6A65-B601-9160-46B5-B1105071B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8EB923-CD4A-C349-B3B2-3F19F0B2596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3103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9D15B-BB71-D82C-1EF1-8142A485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D4711-ECAB-07AB-E361-BCB09042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TypeScript is a typed superset of JavaScript that adds static types and compiles to plain JavaScript.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57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C0BD6-5860-E833-C05D-C6872F6FA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Init tsconfig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DE81-A566-753A-0349-0731115F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t</a:t>
            </a:r>
            <a:r>
              <a:rPr lang="en-GE" sz="2400"/>
              <a:t>sc --init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5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B5A76-CD2A-44BB-9710-F4662A4B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Basic tsconfig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D64DB-5DA3-C6AF-99CA-CE3F3C2E1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600"/>
              <a:t>"rootDir": "./src" → Source files location  </a:t>
            </a:r>
          </a:p>
          <a:p>
            <a:pPr marL="0" indent="0">
              <a:buNone/>
            </a:pPr>
            <a:r>
              <a:rPr lang="en-GB" sz="600"/>
              <a:t>"outDir": "./dist" → Compiled output folder  </a:t>
            </a:r>
          </a:p>
          <a:p>
            <a:pPr marL="0" indent="0">
              <a:buNone/>
            </a:pPr>
            <a:endParaRPr lang="en-GB" sz="600"/>
          </a:p>
          <a:p>
            <a:pPr marL="0" indent="0">
              <a:buNone/>
            </a:pPr>
            <a:r>
              <a:rPr lang="en-GB" sz="600"/>
              <a:t>"module": "ES6" → Module system (ES6 import/export)  </a:t>
            </a:r>
          </a:p>
          <a:p>
            <a:pPr marL="0" indent="0">
              <a:buNone/>
            </a:pPr>
            <a:r>
              <a:rPr lang="en-GB" sz="600"/>
              <a:t>"target": "ES6" → Output JS version (ES6)  </a:t>
            </a:r>
          </a:p>
          <a:p>
            <a:pPr marL="0" indent="0">
              <a:buNone/>
            </a:pPr>
            <a:r>
              <a:rPr lang="en-GB" sz="600"/>
              <a:t>"types": [] → No global type defs loaded  </a:t>
            </a:r>
          </a:p>
          <a:p>
            <a:pPr marL="0" indent="0">
              <a:buNone/>
            </a:pPr>
            <a:endParaRPr lang="en-GB" sz="600"/>
          </a:p>
          <a:p>
            <a:pPr marL="0" indent="0">
              <a:buNone/>
            </a:pPr>
            <a:r>
              <a:rPr lang="en-GB" sz="600"/>
              <a:t>"sourceMap": true → Generate .map files for debugging  </a:t>
            </a:r>
          </a:p>
          <a:p>
            <a:pPr marL="0" indent="0">
              <a:buNone/>
            </a:pPr>
            <a:r>
              <a:rPr lang="en-GB" sz="600"/>
              <a:t>"declaration": true → Generate .d.ts files  </a:t>
            </a:r>
          </a:p>
          <a:p>
            <a:pPr marL="0" indent="0">
              <a:buNone/>
            </a:pPr>
            <a:r>
              <a:rPr lang="en-GB" sz="600"/>
              <a:t>"declarationMap": true → Generate .d.ts.map files  </a:t>
            </a:r>
          </a:p>
          <a:p>
            <a:pPr marL="0" indent="0">
              <a:buNone/>
            </a:pPr>
            <a:endParaRPr lang="en-GB" sz="600"/>
          </a:p>
          <a:p>
            <a:pPr marL="0" indent="0">
              <a:buNone/>
            </a:pPr>
            <a:r>
              <a:rPr lang="en-GB" sz="600"/>
              <a:t>"noUncheckedIndexedAccess": true → Index access returns `T | undefined`  </a:t>
            </a:r>
          </a:p>
          <a:p>
            <a:pPr marL="0" indent="0">
              <a:buNone/>
            </a:pPr>
            <a:r>
              <a:rPr lang="en-GB" sz="600"/>
              <a:t>"exactOptionalPropertyTypes": true → `?` props treated strictly </a:t>
            </a:r>
          </a:p>
          <a:p>
            <a:pPr marL="0" indent="0">
              <a:buNone/>
            </a:pPr>
            <a:r>
              <a:rPr lang="en-GB" sz="600"/>
              <a:t>…</a:t>
            </a:r>
            <a:endParaRPr lang="en-GE" sz="6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21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7EC97-9A51-26CD-93BC-77B1A186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05BF3-504E-BEDF-2F41-CE592340F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/>
              <a:t>boolean, number, string</a:t>
            </a:r>
          </a:p>
          <a:p>
            <a:pPr marL="0" indent="0">
              <a:buNone/>
            </a:pPr>
            <a:r>
              <a:rPr lang="en-GB" sz="1500"/>
              <a:t>number[], string[], Array&lt;number&gt;</a:t>
            </a:r>
          </a:p>
          <a:p>
            <a:pPr marL="0" indent="0">
              <a:buNone/>
            </a:pPr>
            <a:r>
              <a:rPr lang="en-GB" sz="1500"/>
              <a:t>enum Color { Red, Green, Blue }</a:t>
            </a:r>
          </a:p>
          <a:p>
            <a:pPr marL="0" indent="0">
              <a:buNone/>
            </a:pPr>
            <a:r>
              <a:rPr lang="en-GB" sz="1500"/>
              <a:t>any, unknown</a:t>
            </a:r>
          </a:p>
          <a:p>
            <a:pPr marL="0" indent="0">
              <a:buNone/>
            </a:pPr>
            <a:r>
              <a:rPr lang="en-GB" sz="1500"/>
              <a:t>void, null, undefined, never</a:t>
            </a:r>
          </a:p>
          <a:p>
            <a:pPr marL="0" indent="0">
              <a:buNone/>
            </a:pPr>
            <a:r>
              <a:rPr lang="en-GB" sz="1500"/>
              <a:t>object</a:t>
            </a:r>
          </a:p>
          <a:p>
            <a:pPr marL="0" indent="0">
              <a:buNone/>
            </a:pPr>
            <a:r>
              <a:rPr lang="en-GB" sz="1500"/>
              <a:t>string | number</a:t>
            </a:r>
          </a:p>
          <a:p>
            <a:pPr marL="0" indent="0">
              <a:buNone/>
            </a:pPr>
            <a:r>
              <a:rPr lang="en-GB" sz="1500"/>
              <a:t>as string, as number</a:t>
            </a:r>
          </a:p>
          <a:p>
            <a:pPr marL="0" indent="0">
              <a:buNone/>
            </a:pPr>
            <a:r>
              <a:rPr lang="en-GB" sz="1500"/>
              <a:t>void</a:t>
            </a:r>
          </a:p>
          <a:p>
            <a:pPr marL="0" indent="0">
              <a:buNone/>
            </a:pPr>
            <a:endParaRPr lang="en-GE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83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F4432-4A35-8A84-F03B-31D8A15F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B530-B936-62E9-E827-7B81292B0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F</a:t>
            </a:r>
            <a:r>
              <a:rPr lang="en-GE" sz="2400"/>
              <a:t>unction test(a: number): void { console.log(a) }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71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1E8E6-75B7-3158-C650-535267F3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F</a:t>
            </a:r>
            <a:r>
              <a:rPr lang="en-GE" sz="4800"/>
              <a:t>unction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06B6-1680-2A2C-2473-41F22F641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Let fn: (a: number) =&gt; void;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Fn = (a: number) =&gt; {</a:t>
            </a:r>
          </a:p>
          <a:p>
            <a:pPr marL="0" indent="0">
              <a:buNone/>
            </a:pPr>
            <a:r>
              <a:rPr lang="en-US" sz="2400"/>
              <a:t>	console.log(‘tst’) </a:t>
            </a:r>
          </a:p>
          <a:p>
            <a:pPr marL="0" indent="0">
              <a:buNone/>
            </a:pPr>
            <a:r>
              <a:rPr lang="en-US" sz="2400"/>
              <a:t>}</a:t>
            </a: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89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B018D-32A6-66F1-DA2B-AE91CA02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8DE0-412D-CE22-1033-FDD9F81A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400"/>
              <a:t>Access modifiers:</a:t>
            </a:r>
          </a:p>
          <a:p>
            <a:pPr marL="0" indent="0">
              <a:buNone/>
            </a:pPr>
            <a:endParaRPr lang="en-GE" sz="2400"/>
          </a:p>
          <a:p>
            <a:pPr marL="0" indent="0">
              <a:buNone/>
            </a:pPr>
            <a:r>
              <a:rPr lang="en-GB" sz="2400"/>
              <a:t>P</a:t>
            </a:r>
            <a:r>
              <a:rPr lang="en-GE" sz="2400"/>
              <a:t>rivate</a:t>
            </a:r>
          </a:p>
          <a:p>
            <a:pPr marL="0" indent="0">
              <a:buNone/>
            </a:pPr>
            <a:r>
              <a:rPr lang="en-GB" sz="2400"/>
              <a:t>P</a:t>
            </a:r>
            <a:r>
              <a:rPr lang="en-GE" sz="2400"/>
              <a:t>rotected</a:t>
            </a:r>
          </a:p>
          <a:p>
            <a:pPr marL="0" indent="0">
              <a:buNone/>
            </a:pPr>
            <a:r>
              <a:rPr lang="en-GB" sz="2400"/>
              <a:t>P</a:t>
            </a:r>
            <a:r>
              <a:rPr lang="en-GE" sz="2400"/>
              <a:t>ublic</a:t>
            </a:r>
          </a:p>
          <a:p>
            <a:pPr marL="0" indent="0">
              <a:buNone/>
            </a:pPr>
            <a:r>
              <a:rPr lang="en-GE" sz="2400"/>
              <a:t>readonly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8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C132A-9E0E-067D-48E5-FF867DED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A</a:t>
            </a:r>
            <a:r>
              <a:rPr lang="en-GE" sz="4800"/>
              <a:t>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F70A-9C29-38B4-AA45-4EC78DDEF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A</a:t>
            </a:r>
            <a:r>
              <a:rPr lang="en-GE" sz="2400"/>
              <a:t>bstract class Animal {</a:t>
            </a:r>
          </a:p>
          <a:p>
            <a:pPr marL="0" indent="0">
              <a:buNone/>
            </a:pPr>
            <a:r>
              <a:rPr lang="en-GE" sz="2400"/>
              <a:t>     abstract bark(): void;</a:t>
            </a:r>
          </a:p>
          <a:p>
            <a:pPr marL="0" indent="0">
              <a:buNone/>
            </a:pPr>
            <a:r>
              <a:rPr lang="en-GE" sz="2400"/>
              <a:t>}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8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8528F-0437-2432-1716-323BB7B3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GE" sz="5400"/>
              <a:t>Interfaces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EF96-C5C6-7A2A-D452-565E47AA3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interface Person {</a:t>
            </a:r>
          </a:p>
          <a:p>
            <a:pPr marL="0" indent="0">
              <a:buNone/>
            </a:pPr>
            <a:r>
              <a:rPr lang="en-GB" sz="2000"/>
              <a:t>  name: string;</a:t>
            </a:r>
          </a:p>
          <a:p>
            <a:pPr marL="0" indent="0">
              <a:buNone/>
            </a:pPr>
            <a:r>
              <a:rPr lang="en-GB" sz="2000"/>
              <a:t>  age?: number; // optional</a:t>
            </a:r>
          </a:p>
          <a:p>
            <a:pPr marL="0" indent="0">
              <a:buNone/>
            </a:pPr>
            <a:r>
              <a:rPr lang="en-GB" sz="2000"/>
              <a:t>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156051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93428-FFA3-704A-651D-E9C03EB4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Generic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90C98-67CD-3709-AF38-E43C275F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function identity&lt;T&gt;(value: T): T {</a:t>
            </a:r>
          </a:p>
          <a:p>
            <a:pPr marL="0" indent="0">
              <a:buNone/>
            </a:pPr>
            <a:r>
              <a:rPr lang="en-GB" sz="2400"/>
              <a:t>  return value;</a:t>
            </a:r>
          </a:p>
          <a:p>
            <a:pPr marL="0" indent="0">
              <a:buNone/>
            </a:pPr>
            <a:r>
              <a:rPr lang="en-GB" sz="2400"/>
              <a:t>}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console.log(identity&lt;number&gt;(42));      // 42</a:t>
            </a:r>
          </a:p>
          <a:p>
            <a:pPr marL="0" indent="0">
              <a:buNone/>
            </a:pPr>
            <a:r>
              <a:rPr lang="en-GB" sz="2400"/>
              <a:t>console.log(identity&lt;string&gt;("Hello")); // Hello</a:t>
            </a: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71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EE57B-62CC-3A04-3E52-29E33BEE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Generic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2DE7-62B4-35F7-278C-744DAF479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600" dirty="0"/>
              <a:t>class Box&lt;T&gt; {</a:t>
            </a:r>
          </a:p>
          <a:p>
            <a:pPr marL="0" indent="0">
              <a:buNone/>
            </a:pPr>
            <a:r>
              <a:rPr lang="en-GB" sz="1600" dirty="0"/>
              <a:t>  content: T;</a:t>
            </a:r>
          </a:p>
          <a:p>
            <a:pPr marL="0" indent="0">
              <a:buNone/>
            </a:pPr>
            <a:r>
              <a:rPr lang="en-GB" sz="1600" dirty="0"/>
              <a:t>  constructor(value: T) {</a:t>
            </a:r>
          </a:p>
          <a:p>
            <a:pPr marL="0" indent="0">
              <a:buNone/>
            </a:pPr>
            <a:r>
              <a:rPr lang="en-GB" sz="1600" dirty="0"/>
              <a:t>    </a:t>
            </a:r>
            <a:r>
              <a:rPr lang="en-GB" sz="1600" dirty="0" err="1"/>
              <a:t>this.content</a:t>
            </a:r>
            <a:r>
              <a:rPr lang="en-GB" sz="1600" dirty="0"/>
              <a:t> = value;</a:t>
            </a:r>
          </a:p>
          <a:p>
            <a:pPr marL="0" indent="0">
              <a:buNone/>
            </a:pPr>
            <a:r>
              <a:rPr lang="en-GB" sz="1600" dirty="0"/>
              <a:t>  }</a:t>
            </a:r>
          </a:p>
          <a:p>
            <a:pPr marL="0" indent="0">
              <a:buNone/>
            </a:pPr>
            <a:r>
              <a:rPr lang="en-GB" sz="1600" dirty="0"/>
              <a:t>}</a:t>
            </a:r>
          </a:p>
          <a:p>
            <a:pPr marL="0" indent="0">
              <a:buNone/>
            </a:pPr>
            <a:r>
              <a:rPr lang="en-GB" sz="1600" dirty="0" err="1"/>
              <a:t>const</a:t>
            </a:r>
            <a:r>
              <a:rPr lang="en-GB" sz="1600" dirty="0"/>
              <a:t> </a:t>
            </a:r>
            <a:r>
              <a:rPr lang="en-GB" sz="1600" dirty="0" err="1"/>
              <a:t>numberBox</a:t>
            </a:r>
            <a:r>
              <a:rPr lang="en-GB" sz="1600" dirty="0"/>
              <a:t> = new Box&lt;number&gt;(123);</a:t>
            </a:r>
          </a:p>
          <a:p>
            <a:pPr marL="0" indent="0">
              <a:buNone/>
            </a:pPr>
            <a:r>
              <a:rPr lang="en-GB" sz="1600" dirty="0" err="1"/>
              <a:t>const</a:t>
            </a:r>
            <a:r>
              <a:rPr lang="en-GB" sz="1600" dirty="0"/>
              <a:t> </a:t>
            </a:r>
            <a:r>
              <a:rPr lang="en-GB" sz="1600" dirty="0" err="1"/>
              <a:t>stringBox</a:t>
            </a:r>
            <a:r>
              <a:rPr lang="en-GB" sz="1600" dirty="0"/>
              <a:t> = new Box&lt;string&gt;("Hello");</a:t>
            </a:r>
          </a:p>
          <a:p>
            <a:pPr marL="0" indent="0">
              <a:buNone/>
            </a:pPr>
            <a:endParaRPr lang="en-GB" sz="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78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B81D4-80ED-8E38-CEDE-0CF81197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GE" sz="5400"/>
              <a:t>Custom Types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2717C-4E10-3EB5-1EE6-F705F0D5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type ID = string | number;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/>
              <a:t>let userId: ID;</a:t>
            </a:r>
          </a:p>
          <a:p>
            <a:pPr marL="0" indent="0">
              <a:buNone/>
            </a:pPr>
            <a:r>
              <a:rPr lang="en-GB" sz="2000"/>
              <a:t>userId = 123;     // </a:t>
            </a:r>
            <a:r>
              <a:rPr lang="en-GE" sz="2000"/>
              <a:t>✅ </a:t>
            </a:r>
            <a:r>
              <a:rPr lang="en-GB" sz="2000"/>
              <a:t>valid</a:t>
            </a:r>
          </a:p>
          <a:p>
            <a:pPr marL="0" indent="0">
              <a:buNone/>
            </a:pPr>
            <a:r>
              <a:rPr lang="en-GB" sz="2000"/>
              <a:t>userId = "abc";   // </a:t>
            </a:r>
            <a:r>
              <a:rPr lang="en-GE" sz="2000"/>
              <a:t>✅ </a:t>
            </a:r>
            <a:r>
              <a:rPr lang="en-GB" sz="2000"/>
              <a:t>valid</a:t>
            </a:r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165475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35583-DACA-2029-AEAC-9B7EF45F4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D</a:t>
            </a:r>
            <a:r>
              <a:rPr lang="en-GE" sz="4800"/>
              <a:t>efault, defer, vs async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A70B3-01E7-7E45-D3DE-ED4BA4CF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600" b="1" dirty="0"/>
              <a:t>🔹 </a:t>
            </a:r>
            <a:r>
              <a:rPr lang="en-GB" sz="600" b="1" dirty="0"/>
              <a:t>Default Script </a:t>
            </a:r>
            <a:r>
              <a:rPr lang="en-GB" sz="600" b="1" dirty="0" err="1"/>
              <a:t>Behavior</a:t>
            </a:r>
            <a:endParaRPr lang="en-GB" sz="600" b="1" dirty="0"/>
          </a:p>
          <a:p>
            <a:pPr marL="0" indent="0">
              <a:buNone/>
            </a:pPr>
            <a:r>
              <a:rPr lang="en-GB" sz="600" dirty="0"/>
              <a:t>By default, a &lt;script&gt; tag </a:t>
            </a:r>
            <a:r>
              <a:rPr lang="en-GB" sz="600" b="1" dirty="0"/>
              <a:t>without async or defer</a:t>
            </a:r>
            <a:r>
              <a:rPr lang="en-GB" sz="600" dirty="0"/>
              <a:t>:</a:t>
            </a:r>
          </a:p>
          <a:p>
            <a:pPr marL="457200" lvl="1" indent="0">
              <a:buNone/>
            </a:pPr>
            <a:r>
              <a:rPr lang="en-GB" sz="600" b="1" dirty="0"/>
              <a:t>Blocks HTML parsing</a:t>
            </a:r>
            <a:r>
              <a:rPr lang="en-GB" sz="600" dirty="0"/>
              <a:t> while the script is being fetched and executed.</a:t>
            </a:r>
          </a:p>
          <a:p>
            <a:pPr marL="457200" lvl="1" indent="0">
              <a:buNone/>
            </a:pPr>
            <a:r>
              <a:rPr lang="en-GB" sz="600" dirty="0"/>
              <a:t>Runs </a:t>
            </a:r>
            <a:r>
              <a:rPr lang="en-GB" sz="600" b="1" dirty="0"/>
              <a:t>immediately</a:t>
            </a:r>
            <a:r>
              <a:rPr lang="en-GB" sz="600" dirty="0"/>
              <a:t> when the parser reaches it.</a:t>
            </a:r>
          </a:p>
          <a:p>
            <a:pPr marL="457200" lvl="1" indent="0">
              <a:buNone/>
            </a:pPr>
            <a:r>
              <a:rPr lang="en-GB" sz="600" dirty="0"/>
              <a:t>Order is preserved (scripts execute in the order they appear).</a:t>
            </a:r>
            <a:br>
              <a:rPr lang="en-GB" sz="600" dirty="0"/>
            </a:br>
            <a:endParaRPr lang="en-GB" sz="600" dirty="0"/>
          </a:p>
          <a:p>
            <a:pPr marL="0" indent="0">
              <a:buNone/>
            </a:pPr>
            <a:r>
              <a:rPr lang="en-GE" sz="600" b="1" dirty="0"/>
              <a:t>🔹 </a:t>
            </a:r>
            <a:r>
              <a:rPr lang="en-GB" sz="600" b="1" dirty="0"/>
              <a:t>defer </a:t>
            </a:r>
            <a:r>
              <a:rPr lang="en-GB" sz="600" b="1" dirty="0" err="1"/>
              <a:t>Behavior</a:t>
            </a:r>
            <a:endParaRPr lang="en-GB" sz="600" b="1" dirty="0"/>
          </a:p>
          <a:p>
            <a:pPr marL="0" indent="0">
              <a:buNone/>
            </a:pPr>
            <a:r>
              <a:rPr lang="en-GB" sz="600" dirty="0"/>
              <a:t>The script </a:t>
            </a:r>
            <a:r>
              <a:rPr lang="en-GB" sz="600" b="1" dirty="0"/>
              <a:t>downloads in parallel</a:t>
            </a:r>
            <a:r>
              <a:rPr lang="en-GB" sz="600" dirty="0"/>
              <a:t> with HTML parsing.</a:t>
            </a:r>
          </a:p>
          <a:p>
            <a:pPr marL="0" indent="0">
              <a:buNone/>
            </a:pPr>
            <a:r>
              <a:rPr lang="en-GB" sz="600" dirty="0"/>
              <a:t>Executes </a:t>
            </a:r>
            <a:r>
              <a:rPr lang="en-GB" sz="600" b="1" dirty="0"/>
              <a:t>after the entire HTML is parsed</a:t>
            </a:r>
            <a:r>
              <a:rPr lang="en-GB" sz="600" dirty="0"/>
              <a:t>.</a:t>
            </a:r>
          </a:p>
          <a:p>
            <a:pPr marL="0" indent="0">
              <a:buNone/>
            </a:pPr>
            <a:r>
              <a:rPr lang="en-GB" sz="600" dirty="0"/>
              <a:t>Maintains </a:t>
            </a:r>
            <a:r>
              <a:rPr lang="en-GB" sz="600" b="1" dirty="0"/>
              <a:t>execution order</a:t>
            </a:r>
            <a:r>
              <a:rPr lang="en-GB" sz="600" dirty="0"/>
              <a:t> for multiple scripts.</a:t>
            </a:r>
          </a:p>
          <a:p>
            <a:pPr marL="0" indent="0">
              <a:buNone/>
            </a:pPr>
            <a:br>
              <a:rPr lang="en-GB" sz="600" dirty="0"/>
            </a:br>
            <a:endParaRPr lang="en-GB" sz="600" dirty="0"/>
          </a:p>
          <a:p>
            <a:pPr marL="0" indent="0">
              <a:buNone/>
            </a:pPr>
            <a:r>
              <a:rPr lang="en-GE" sz="600" b="1" dirty="0"/>
              <a:t>🔹 </a:t>
            </a:r>
            <a:r>
              <a:rPr lang="en-GB" sz="600" b="1" dirty="0"/>
              <a:t>async </a:t>
            </a:r>
            <a:r>
              <a:rPr lang="en-GB" sz="600" b="1" dirty="0" err="1"/>
              <a:t>Behavior</a:t>
            </a:r>
            <a:endParaRPr lang="en-GB" sz="600" b="1" dirty="0"/>
          </a:p>
          <a:p>
            <a:pPr marL="0" indent="0">
              <a:buNone/>
            </a:pPr>
            <a:r>
              <a:rPr lang="en-GB" sz="600" dirty="0"/>
              <a:t>The script </a:t>
            </a:r>
            <a:r>
              <a:rPr lang="en-GB" sz="600" b="1" dirty="0"/>
              <a:t>downloads in parallel</a:t>
            </a:r>
            <a:r>
              <a:rPr lang="en-GB" sz="600" dirty="0"/>
              <a:t> with HTML parsing.</a:t>
            </a:r>
          </a:p>
          <a:p>
            <a:pPr marL="0" indent="0">
              <a:buNone/>
            </a:pPr>
            <a:r>
              <a:rPr lang="en-GB" sz="600" dirty="0"/>
              <a:t>Executes </a:t>
            </a:r>
            <a:r>
              <a:rPr lang="en-GB" sz="600" b="1" dirty="0"/>
              <a:t>as soon as it finishes downloading</a:t>
            </a:r>
            <a:r>
              <a:rPr lang="en-GB" sz="600" dirty="0"/>
              <a:t>.</a:t>
            </a:r>
          </a:p>
          <a:p>
            <a:pPr marL="0" indent="0">
              <a:buNone/>
            </a:pPr>
            <a:r>
              <a:rPr lang="en-GB" sz="600" b="1" dirty="0"/>
              <a:t>Execution order is not guaranteed</a:t>
            </a:r>
            <a:r>
              <a:rPr lang="en-GB" sz="600" dirty="0"/>
              <a:t> if multiple scripts are async.</a:t>
            </a:r>
          </a:p>
          <a:p>
            <a:pPr marL="0" indent="0">
              <a:buNone/>
            </a:pPr>
            <a:endParaRPr lang="en-GE" sz="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7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F4BF-9775-325C-D136-630D8669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1E6D-76D5-6F04-EFD0-1CEAC3741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&lt;!-- defer: runs in order, after parsing --&gt;</a:t>
            </a:r>
          </a:p>
          <a:p>
            <a:pPr marL="0" indent="0">
              <a:buNone/>
            </a:pPr>
            <a:r>
              <a:rPr lang="en-GB" sz="2000" dirty="0"/>
              <a:t>&lt;script </a:t>
            </a:r>
            <a:r>
              <a:rPr lang="en-GB" sz="2000" dirty="0" err="1"/>
              <a:t>src</a:t>
            </a:r>
            <a:r>
              <a:rPr lang="en-GB" sz="2000" dirty="0"/>
              <a:t>="</a:t>
            </a:r>
            <a:r>
              <a:rPr lang="en-GB" sz="2000" dirty="0" err="1"/>
              <a:t>main.js</a:t>
            </a:r>
            <a:r>
              <a:rPr lang="en-GB" sz="2000" dirty="0"/>
              <a:t>" defer&gt;&lt;/script&gt;</a:t>
            </a:r>
          </a:p>
          <a:p>
            <a:pPr marL="0" indent="0">
              <a:buNone/>
            </a:pPr>
            <a:r>
              <a:rPr lang="en-GB" sz="2000" dirty="0"/>
              <a:t>&lt;script </a:t>
            </a:r>
            <a:r>
              <a:rPr lang="en-GB" sz="2000" dirty="0" err="1"/>
              <a:t>src</a:t>
            </a:r>
            <a:r>
              <a:rPr lang="en-GB" sz="2000" dirty="0"/>
              <a:t>="</a:t>
            </a:r>
            <a:r>
              <a:rPr lang="en-GB" sz="2000" dirty="0" err="1"/>
              <a:t>utils.js</a:t>
            </a:r>
            <a:r>
              <a:rPr lang="en-GB" sz="2000" dirty="0"/>
              <a:t>" defer&gt;&lt;/script&gt;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&lt;!-- async: runs as soon as loaded, order not guaranteed --&gt;</a:t>
            </a:r>
          </a:p>
          <a:p>
            <a:pPr marL="0" indent="0">
              <a:buNone/>
            </a:pPr>
            <a:r>
              <a:rPr lang="en-GB" sz="2000" dirty="0"/>
              <a:t>&lt;script </a:t>
            </a:r>
            <a:r>
              <a:rPr lang="en-GB" sz="2000" dirty="0" err="1"/>
              <a:t>src</a:t>
            </a:r>
            <a:r>
              <a:rPr lang="en-GB" sz="2000" dirty="0"/>
              <a:t>="</a:t>
            </a:r>
            <a:r>
              <a:rPr lang="en-GB" sz="2000" dirty="0" err="1"/>
              <a:t>analytics.js</a:t>
            </a:r>
            <a:r>
              <a:rPr lang="en-GB" sz="2000" dirty="0"/>
              <a:t>" async&gt;&lt;/script&gt;</a:t>
            </a:r>
            <a:endParaRPr lang="en-GE" sz="2000" dirty="0"/>
          </a:p>
        </p:txBody>
      </p:sp>
    </p:spTree>
    <p:extLst>
      <p:ext uri="{BB962C8B-B14F-4D97-AF65-F5344CB8AC3E}">
        <p14:creationId xmlns:p14="http://schemas.microsoft.com/office/powerpoint/2010/main" val="250517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577</Words>
  <Application>Microsoft Macintosh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Typescript</vt:lpstr>
      <vt:lpstr>Init tsconfig</vt:lpstr>
      <vt:lpstr>Basic tsconfig</vt:lpstr>
      <vt:lpstr>Data types</vt:lpstr>
      <vt:lpstr>Functions</vt:lpstr>
      <vt:lpstr>Function types</vt:lpstr>
      <vt:lpstr>Classes</vt:lpstr>
      <vt:lpstr>Abstract classes</vt:lpstr>
      <vt:lpstr>Interfaces</vt:lpstr>
      <vt:lpstr>Generic Functions</vt:lpstr>
      <vt:lpstr>Generic classes</vt:lpstr>
      <vt:lpstr>Custom Types</vt:lpstr>
      <vt:lpstr>Default, defer, vs async attributes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3</cp:revision>
  <dcterms:created xsi:type="dcterms:W3CDTF">2025-09-05T12:40:52Z</dcterms:created>
  <dcterms:modified xsi:type="dcterms:W3CDTF">2025-09-10T18:20:47Z</dcterms:modified>
</cp:coreProperties>
</file>