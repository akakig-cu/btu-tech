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next 9 lectures lead to: building real multi-page React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how many lines only keep the screen in sync with data. That is the pain React removes. Point at the amber line: it only copies data to the screen. The two querySelector lines exist only to find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the data, React redraws. You describe the result, not the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Network tab on a normal site vs Gmail. One sentence each on pros and cons.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Vite gives a dev server and a build step. node_modules: never edit, never push. Live: in the prompts choose React, then JavaScript. Open the local URL Vite prints (usually http://localhost:5173).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index.html loads main.jsx; main.jsx puts App into div#root. Live: open the three files in this order: 1, 2,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translating a letter for someone who reads only one language. Vite does it for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arguments: tag, props, children. We'll only write JSX from now on. The colors match on both sides: tag, props, children.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Capital letter is required. Lowercase = treated as an HTML tag. Live: rename it to greeting and show that nothing appears on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1016000"/>
            <a:ext cx="10566436" cy="5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879582"/>
            <a:ext cx="10566418" cy="416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1016000"/>
            <a:ext cx="10566436" cy="5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879582"/>
            <a:ext cx="10566418" cy="416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40639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pic>
        <p:nvPicPr>
          <p:cNvPr id="4" name="Image 0" descr="Four rounded building blocks, one filled in React blu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85173" y="2032000"/>
            <a:ext cx="2794000" cy="2794000"/>
          </a:xfrm>
          <a:prstGeom prst="rect">
            <a:avLst/>
          </a:prstGeom>
        </p:spPr>
      </p:pic>
      <p:sp>
        <p:nvSpPr>
          <p:cNvPr id="5" name="Text 2"/>
          <p:cNvSpPr/>
          <p:nvPr>
            <p:ph type="title"/>
          </p:nvPr>
        </p:nvSpPr>
        <p:spPr>
          <a:xfrm>
            <a:off x="812782" y="2242840"/>
            <a:ext cx="10883429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00"/>
              </a:lnSpc>
              <a:buNone/>
            </a:pPr>
            <a:r>
              <a:rPr lang="en-US" sz="11000" b="1" i="0" spc="-30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1000" dirty="0"/>
          </a:p>
        </p:txBody>
      </p:sp>
      <p:pic>
        <p:nvPicPr>
          <p:cNvPr id="6" name="Image 1" descr="line">    </p:cNvPr>
          <p:cNvPicPr>
            <a:picLocks noChangeAspect="1"/>
          </p:cNvPicPr>
          <p:nvPr/>
        </p:nvPicPr>
        <p:blipFill>
          <a:blip r:embed="rId2"/>
          <a:srcRect l="-47" r="-47" t="0" b="0"/>
          <a:stretch/>
        </p:blipFill>
        <p:spPr>
          <a:xfrm>
            <a:off x="812782" y="3893840"/>
            <a:ext cx="1016000" cy="380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2782" y="4185904"/>
            <a:ext cx="7194550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 1 · Why React, and your first app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40639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82" y="1016000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JavaScript vs React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782" y="1777954"/>
            <a:ext cx="10883429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plain JS: data changes → find the element → update it by hand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12782" y="2410384"/>
            <a:ext cx="8025940" cy="2895293"/>
          </a:xfrm>
          <a:prstGeom prst="roundRect">
            <a:avLst>
              <a:gd name="adj" fmla="val 4386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66205" y="2613557"/>
            <a:ext cx="7691748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84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let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count = </a:t>
            </a:r>
            <a:r>
              <a:rPr lang="en-US" sz="2000" dirty="0">
                <a:solidFill>
                  <a:srgbClr val="F9A8D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6205" y="2969121"/>
            <a:ext cx="7691748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84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countEl = document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</a:t>
            </a: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querySelector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2000" dirty="0">
                <a:solidFill>
                  <a:srgbClr val="86EFA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'#count'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6205" y="3324685"/>
            <a:ext cx="7691748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84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button = document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</a:t>
            </a: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querySelector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2000" dirty="0">
                <a:solidFill>
                  <a:srgbClr val="86EFA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'#plus'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6205" y="3680248"/>
            <a:ext cx="7691748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button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</a:t>
            </a: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addEventListener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2000" dirty="0">
                <a:solidFill>
                  <a:srgbClr val="86EFA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'click'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 () </a:t>
            </a:r>
            <a:r>
              <a:rPr lang="en-US" sz="2000" dirty="0">
                <a:solidFill>
                  <a:srgbClr val="C084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=&gt;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{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66205" y="4035813"/>
            <a:ext cx="7691748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count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++;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2782" y="4391376"/>
            <a:ext cx="8025940" cy="355564"/>
          </a:xfrm>
          <a:prstGeom prst="rect">
            <a:avLst/>
          </a:prstGeom>
          <a:solidFill>
            <a:srgbClr val="F59E0B">
              <a:alpha val="18000"/>
            </a:srgbClr>
          </a:solidFill>
          <a:ln/>
        </p:spPr>
        <p:txBody>
          <a:bodyPr wrap="none" lIns="253423" tIns="0" rIns="80768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countEl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textContent = count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31832" y="4391376"/>
            <a:ext cx="0" cy="35556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6205" y="4746940"/>
            <a:ext cx="7691748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});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40639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18" y="6238287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82" y="1016000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in one 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303805" y="2421117"/>
            <a:ext cx="7584389" cy="1282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900"/>
              </a:lnSpc>
              <a:buNone/>
            </a:pPr>
            <a:r>
              <a:rPr lang="en-US" sz="9000" b="1" spc="-20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= </a:t>
            </a:r>
            <a:r>
              <a:rPr lang="en-US" sz="9000" b="1" spc="-20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r>
              <a:rPr lang="en-US" sz="9000" b="1" spc="-20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(state)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158208" y="3729182"/>
            <a:ext cx="3875538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 → screen out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307" y="5014344"/>
            <a:ext cx="2961301" cy="818131"/>
          </a:xfrm>
          <a:prstGeom prst="roundRect">
            <a:avLst>
              <a:gd name="adj" fmla="val 14359"/>
            </a:avLst>
          </a:prstGeom>
          <a:solidFill>
            <a:srgbClr val="E6F4F8"/>
          </a:solidFill>
          <a:ln w="19050">
            <a:solidFill>
              <a:srgbClr val="087EA4"/>
            </a:solidFill>
            <a:prstDash val="solid"/>
          </a:ln>
        </p:spPr>
        <p:txBody>
          <a:bodyPr wrap="square" lIns="86163" tIns="176586" rIns="86163" bIns="151132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(data)</a:t>
            </a:r>
            <a:endParaRPr lang="en-US" sz="24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94697" y="5270996"/>
            <a:ext cx="609564" cy="3047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15349" y="5014344"/>
            <a:ext cx="2961301" cy="818131"/>
          </a:xfrm>
          <a:prstGeom prst="roundRect">
            <a:avLst>
              <a:gd name="adj" fmla="val 14359"/>
            </a:avLst>
          </a:prstGeom>
          <a:solidFill>
            <a:srgbClr val="087EA4"/>
          </a:solidFill>
          <a:ln w="19050">
            <a:solidFill>
              <a:srgbClr val="087EA4"/>
            </a:solidFill>
            <a:prstDash val="solid"/>
          </a:ln>
        </p:spPr>
        <p:txBody>
          <a:bodyPr wrap="square" lIns="86163" tIns="176586" rIns="86163" bIns="151132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component</a:t>
            </a:r>
            <a:endParaRPr lang="en-US" sz="2400" dirty="0"/>
          </a:p>
        </p:txBody>
      </p:sp>
      <p:pic>
        <p:nvPicPr>
          <p:cNvPr id="10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87739" y="5270996"/>
            <a:ext cx="609564" cy="3047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08392" y="5014344"/>
            <a:ext cx="2961301" cy="818131"/>
          </a:xfrm>
          <a:prstGeom prst="roundRect">
            <a:avLst>
              <a:gd name="adj" fmla="val 14359"/>
            </a:avLst>
          </a:prstGeom>
          <a:solidFill>
            <a:srgbClr val="FFFFFF"/>
          </a:solidFill>
          <a:ln w="19050">
            <a:solidFill>
              <a:srgbClr val="087EA4"/>
            </a:solidFill>
            <a:prstDash val="solid"/>
          </a:ln>
        </p:spPr>
        <p:txBody>
          <a:bodyPr wrap="square" lIns="86163" tIns="176586" rIns="86163" bIns="151132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(screen)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40639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82" y="1016000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Multi-page vs SPA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9132" y="1784303"/>
            <a:ext cx="5118127" cy="3860845"/>
          </a:xfrm>
          <a:prstGeom prst="roundRect">
            <a:avLst>
              <a:gd name="adj" fmla="val 378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109" y="2094281"/>
            <a:ext cx="4633117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Multi-page</a:t>
            </a:r>
            <a:endParaRPr lang="en-US" sz="2400" dirty="0"/>
          </a:p>
        </p:txBody>
      </p:sp>
      <p:pic>
        <p:nvPicPr>
          <p:cNvPr id="7" name="Image 0" descr="Three pages, each with an arrow to one serv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9109" y="2612383"/>
            <a:ext cx="4445000" cy="177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9109" y="4542775"/>
            <a:ext cx="4633117" cy="81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click = a new page from the server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254741" y="1784303"/>
            <a:ext cx="5118127" cy="3860845"/>
          </a:xfrm>
          <a:prstGeom prst="roundRect">
            <a:avLst>
              <a:gd name="adj" fmla="val 378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64718" y="2094281"/>
            <a:ext cx="4633117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</a:t>
            </a:r>
            <a:endParaRPr lang="en-US" sz="2400" dirty="0"/>
          </a:p>
        </p:txBody>
      </p:sp>
      <p:pic>
        <p:nvPicPr>
          <p:cNvPr id="11" name="Image 1" descr="One page whose inner panels swap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64718" y="2612383"/>
            <a:ext cx="4445000" cy="1778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64718" y="4542775"/>
            <a:ext cx="4633117" cy="81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page. JavaScript swaps the view.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40639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pic>
        <p:nvPicPr>
          <p:cNvPr id="4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98000" y="2667000"/>
            <a:ext cx="1524000" cy="1524000"/>
          </a:xfrm>
          <a:prstGeom prst="rect">
            <a:avLst/>
          </a:prstGeom>
        </p:spPr>
      </p:pic>
      <p:sp>
        <p:nvSpPr>
          <p:cNvPr id="5" name="Text 2"/>
          <p:cNvSpPr/>
          <p:nvPr>
            <p:ph type="title"/>
          </p:nvPr>
        </p:nvSpPr>
        <p:spPr>
          <a:xfrm>
            <a:off x="812782" y="1016000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Tooling: Vite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12782" y="1777953"/>
            <a:ext cx="10883429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React project in one minute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812782" y="2410383"/>
            <a:ext cx="6985000" cy="2222410"/>
          </a:xfrm>
          <a:prstGeom prst="roundRect">
            <a:avLst>
              <a:gd name="adj" fmla="val 5715"/>
            </a:avLst>
          </a:prstGeom>
          <a:solidFill>
            <a:srgbClr val="1E293B"/>
          </a:solidFill>
          <a:ln/>
        </p:spPr>
      </p:sp>
      <p:sp>
        <p:nvSpPr>
          <p:cNvPr id="8" name="Shape 5"/>
          <p:cNvSpPr/>
          <p:nvPr/>
        </p:nvSpPr>
        <p:spPr>
          <a:xfrm>
            <a:off x="1066782" y="2664383"/>
            <a:ext cx="114282" cy="114282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9" name="Shape 6"/>
          <p:cNvSpPr/>
          <p:nvPr/>
        </p:nvSpPr>
        <p:spPr>
          <a:xfrm>
            <a:off x="1257237" y="2664383"/>
            <a:ext cx="114282" cy="114282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10" name="Shape 7"/>
          <p:cNvSpPr/>
          <p:nvPr/>
        </p:nvSpPr>
        <p:spPr>
          <a:xfrm>
            <a:off x="1447692" y="2664383"/>
            <a:ext cx="114282" cy="114282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11" name="Shape 8"/>
          <p:cNvSpPr/>
          <p:nvPr/>
        </p:nvSpPr>
        <p:spPr>
          <a:xfrm>
            <a:off x="831832" y="2905665"/>
            <a:ext cx="0" cy="368282"/>
          </a:xfrm>
          <a:prstGeom prst="line">
            <a:avLst/>
          </a:prstGeom>
          <a:noFill/>
          <a:ln w="38100">
            <a:solidFill>
              <a:srgbClr val="087EA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205" y="2905665"/>
            <a:ext cx="6619581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npm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create vite@latest </a:t>
            </a:r>
            <a:r>
              <a:rPr lang="en-US" sz="2000" dirty="0">
                <a:solidFill>
                  <a:srgbClr val="86EFA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my-app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66205" y="3273946"/>
            <a:ext cx="6619581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cd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r>
              <a:rPr lang="en-US" sz="2000" dirty="0">
                <a:solidFill>
                  <a:srgbClr val="86EFA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my-app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66205" y="3642230"/>
            <a:ext cx="6619581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npm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install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66205" y="4010512"/>
            <a:ext cx="6619581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npm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run dev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40639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82" y="1016000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anatomy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782" y="1777953"/>
            <a:ext cx="10883429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things live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19132" y="2416733"/>
            <a:ext cx="6337300" cy="3363128"/>
          </a:xfrm>
          <a:prstGeom prst="roundRect">
            <a:avLst>
              <a:gd name="adj" fmla="val 43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109" y="2675930"/>
            <a:ext cx="5888865" cy="431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my-app/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29109" y="3082320"/>
            <a:ext cx="5888865" cy="431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 </a:t>
            </a:r>
            <a:r>
              <a:rPr lang="en-US" sz="2000" b="1" dirty="0">
                <a:solidFill>
                  <a:srgbClr val="087E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index.html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29109" y="3488711"/>
            <a:ext cx="5888865" cy="431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 </a:t>
            </a:r>
            <a:r>
              <a:rPr lang="en-US" sz="20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package.json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29109" y="3895102"/>
            <a:ext cx="5888865" cy="431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├── </a:t>
            </a:r>
            <a:r>
              <a:rPr lang="en-US" sz="20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public/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29109" y="4301492"/>
            <a:ext cx="5888865" cy="431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└── </a:t>
            </a:r>
            <a:r>
              <a:rPr lang="en-US" sz="20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src/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29109" y="4707883"/>
            <a:ext cx="5888865" cy="431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├── </a:t>
            </a:r>
            <a:r>
              <a:rPr lang="en-US" sz="2000" b="1" dirty="0">
                <a:solidFill>
                  <a:srgbClr val="087E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main.jsx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29109" y="5114274"/>
            <a:ext cx="5888865" cy="431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└── </a:t>
            </a:r>
            <a:r>
              <a:rPr lang="en-US" sz="2000" b="1" dirty="0">
                <a:solidFill>
                  <a:srgbClr val="087E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App.jsx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782" y="3121555"/>
            <a:ext cx="304782" cy="305413"/>
          </a:xfrm>
          <a:custGeom>
            <a:avLst/>
            <a:gdLst/>
            <a:ahLst/>
            <a:cxnLst/>
            <a:rect l="l" t="t" r="r" b="b"/>
            <a:pathLst>
              <a:path w="304782" h="305413">
                <a:moveTo>
                  <a:pt x="152391" y="0"/>
                </a:moveTo>
                <a:lnTo>
                  <a:pt x="152391" y="0"/>
                </a:lnTo>
                <a:arcTo hR="152391" wR="152391" stAng="16200000" swAng="5400000"/>
                <a:lnTo>
                  <a:pt x="304782" y="153022"/>
                </a:lnTo>
                <a:arcTo hR="152391" wR="152391" stAng="0" swAng="5400000"/>
                <a:lnTo>
                  <a:pt x="152391" y="305413"/>
                </a:lnTo>
                <a:arcTo hR="152391" wR="152391" stAng="5400000" swAng="5400000"/>
                <a:lnTo>
                  <a:pt x="0" y="152391"/>
                </a:lnTo>
                <a:arcTo hR="152391" wR="152391" stAng="10800000" swAng="5400000"/>
                <a:close/>
              </a:path>
            </a:pathLst>
          </a:custGeom>
          <a:solidFill>
            <a:srgbClr val="087EA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782" y="4747165"/>
            <a:ext cx="304782" cy="305413"/>
          </a:xfrm>
          <a:custGeom>
            <a:avLst/>
            <a:gdLst/>
            <a:ahLst/>
            <a:cxnLst/>
            <a:rect l="l" t="t" r="r" b="b"/>
            <a:pathLst>
              <a:path w="304782" h="305413">
                <a:moveTo>
                  <a:pt x="152391" y="0"/>
                </a:moveTo>
                <a:lnTo>
                  <a:pt x="152391" y="0"/>
                </a:lnTo>
                <a:arcTo hR="152391" wR="152391" stAng="16200000" swAng="5400000"/>
                <a:lnTo>
                  <a:pt x="304782" y="153022"/>
                </a:lnTo>
                <a:arcTo hR="152391" wR="152391" stAng="0" swAng="5400000"/>
                <a:lnTo>
                  <a:pt x="152391" y="305413"/>
                </a:lnTo>
                <a:arcTo hR="152391" wR="152391" stAng="5400000" swAng="5400000"/>
                <a:lnTo>
                  <a:pt x="0" y="152391"/>
                </a:lnTo>
                <a:arcTo hR="152391" wR="152391" stAng="10800000" swAng="5400000"/>
                <a:close/>
              </a:path>
            </a:pathLst>
          </a:custGeom>
          <a:solidFill>
            <a:srgbClr val="087EA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782" y="5153555"/>
            <a:ext cx="304782" cy="305413"/>
          </a:xfrm>
          <a:custGeom>
            <a:avLst/>
            <a:gdLst/>
            <a:ahLst/>
            <a:cxnLst/>
            <a:rect l="l" t="t" r="r" b="b"/>
            <a:pathLst>
              <a:path w="304782" h="305413">
                <a:moveTo>
                  <a:pt x="152391" y="0"/>
                </a:moveTo>
                <a:lnTo>
                  <a:pt x="152391" y="0"/>
                </a:lnTo>
                <a:arcTo hR="152391" wR="152391" stAng="16200000" swAng="5400000"/>
                <a:lnTo>
                  <a:pt x="304782" y="153022"/>
                </a:lnTo>
                <a:arcTo hR="152391" wR="152391" stAng="0" swAng="5400000"/>
                <a:lnTo>
                  <a:pt x="152391" y="305413"/>
                </a:lnTo>
                <a:arcTo hR="152391" wR="152391" stAng="5400000" swAng="5400000"/>
                <a:lnTo>
                  <a:pt x="0" y="152391"/>
                </a:lnTo>
                <a:arcTo hR="152391" wR="152391" stAng="10800000" swAng="5400000"/>
                <a:close/>
              </a:path>
            </a:pathLst>
          </a:custGeom>
          <a:solidFill>
            <a:srgbClr val="087EA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pic>
        <p:nvPicPr>
          <p:cNvPr id="17" name="Image 0" descr="Arrows from 1 to 2 to 3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32282" y="3045383"/>
            <a:ext cx="127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40639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82" y="1016000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Browsers don't read JSX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782" y="1777953"/>
            <a:ext cx="10883429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tool translates JSX into plain JavaScript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64377" y="3815051"/>
            <a:ext cx="2387789" cy="622282"/>
          </a:xfrm>
          <a:prstGeom prst="roundRect">
            <a:avLst>
              <a:gd name="adj" fmla="val 16327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r>
              <a:rPr lang="en-US" sz="2000" dirty="0">
                <a:solidFill>
                  <a:srgbClr val="5EEAD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h1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Hello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</a:t>
            </a:r>
            <a:r>
              <a:rPr lang="en-US" sz="2000" dirty="0">
                <a:solidFill>
                  <a:srgbClr val="5EEAD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h1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3615667" y="4024582"/>
            <a:ext cx="406391" cy="20317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085557" y="3600466"/>
            <a:ext cx="1785712" cy="1051448"/>
          </a:xfrm>
          <a:prstGeom prst="roundRect">
            <a:avLst>
              <a:gd name="adj" fmla="val 12079"/>
            </a:avLst>
          </a:prstGeom>
          <a:solidFill>
            <a:srgbClr val="087EA4"/>
          </a:solidFill>
          <a:ln/>
        </p:spPr>
      </p:sp>
      <p:sp>
        <p:nvSpPr>
          <p:cNvPr id="9" name="Text 6"/>
          <p:cNvSpPr/>
          <p:nvPr/>
        </p:nvSpPr>
        <p:spPr>
          <a:xfrm>
            <a:off x="4477408" y="3778247"/>
            <a:ext cx="1001965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Babel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237939" y="4143961"/>
            <a:ext cx="1480948" cy="3555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E0F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(inside Vite)</a:t>
            </a:r>
            <a:endParaRPr lang="en-US" sz="20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5934769" y="4024582"/>
            <a:ext cx="406391" cy="20317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4660" y="3446766"/>
            <a:ext cx="3454526" cy="1358846"/>
          </a:xfrm>
          <a:prstGeom prst="roundRect">
            <a:avLst>
              <a:gd name="adj" fmla="val 7477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531660" y="3573766"/>
            <a:ext cx="3296542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React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</a:t>
            </a: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createElement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31660" y="3942051"/>
            <a:ext cx="3296542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86EFA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'h1'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 </a:t>
            </a:r>
            <a:r>
              <a:rPr lang="en-US" sz="2000" dirty="0">
                <a:solidFill>
                  <a:srgbClr val="C084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null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 </a:t>
            </a:r>
            <a:r>
              <a:rPr lang="en-US" sz="2000" dirty="0">
                <a:solidFill>
                  <a:srgbClr val="86EFA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'Hello'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531660" y="4310332"/>
            <a:ext cx="3296542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2000" dirty="0"/>
          </a:p>
        </p:txBody>
      </p:sp>
      <p:pic>
        <p:nvPicPr>
          <p:cNvPr id="16" name="Image 2" descr="arrow-right">    </p:cNvPr>
          <p:cNvPicPr>
            <a:picLocks noChangeAspect="1"/>
          </p:cNvPicPr>
          <p:nvPr/>
        </p:nvPicPr>
        <p:blipFill>
          <a:blip r:embed="rId3"/>
          <a:srcRect l="-5" r="-5" t="0" b="0"/>
          <a:stretch/>
        </p:blipFill>
        <p:spPr>
          <a:xfrm>
            <a:off x="9922687" y="4024582"/>
            <a:ext cx="406391" cy="203173"/>
          </a:xfrm>
          <a:prstGeom prst="rect">
            <a:avLst/>
          </a:prstGeom>
        </p:spPr>
      </p:pic>
      <p:pic>
        <p:nvPicPr>
          <p:cNvPr id="17" name="Image 3" descr="Browser">    </p:cNvPr>
          <p:cNvPicPr>
            <a:picLocks noChangeAspect="1"/>
          </p:cNvPicPr>
          <p:nvPr/>
        </p:nvPicPr>
        <p:blipFill>
          <a:blip r:embed="rId4"/>
          <a:srcRect l="-1" r="-1" t="0" b="0"/>
          <a:stretch/>
        </p:blipFill>
        <p:spPr>
          <a:xfrm>
            <a:off x="10392577" y="3859473"/>
            <a:ext cx="635000" cy="5333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406394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82" y="1016000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element, two ways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782" y="1777957"/>
            <a:ext cx="10883429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JSX = nicer syntax for function calls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12782" y="2410386"/>
            <a:ext cx="5019323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 call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12782" y="2877660"/>
            <a:ext cx="4873129" cy="2349410"/>
          </a:xfrm>
          <a:prstGeom prst="roundRect">
            <a:avLst>
              <a:gd name="adj" fmla="val 5406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066205" y="3131660"/>
            <a:ext cx="4444353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React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</a:t>
            </a: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createElement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6205" y="3499941"/>
            <a:ext cx="4444353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5EEAD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'h1'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6205" y="3868226"/>
            <a:ext cx="4444353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 </a:t>
            </a:r>
            <a:r>
              <a:rPr lang="en-US" sz="2000" dirty="0">
                <a:solidFill>
                  <a:srgbClr val="A5B4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className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 </a:t>
            </a:r>
            <a:r>
              <a:rPr lang="en-US" sz="2000" dirty="0">
                <a:solidFill>
                  <a:srgbClr val="A5B4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'title'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},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66205" y="4236507"/>
            <a:ext cx="4444353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86EFA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'Hello'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66205" y="4604789"/>
            <a:ext cx="4444353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889084" y="3513922"/>
            <a:ext cx="496545" cy="635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506044" y="2410386"/>
            <a:ext cx="5019369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JSX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506044" y="2877660"/>
            <a:ext cx="4873174" cy="2349410"/>
          </a:xfrm>
          <a:prstGeom prst="roundRect">
            <a:avLst>
              <a:gd name="adj" fmla="val 5406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759467" y="3131660"/>
            <a:ext cx="4444400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r>
              <a:rPr lang="en-US" sz="2000" dirty="0">
                <a:solidFill>
                  <a:srgbClr val="5EEAD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h1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r>
              <a:rPr lang="en-US" sz="2000" dirty="0">
                <a:solidFill>
                  <a:srgbClr val="A5B4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className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</a:t>
            </a:r>
            <a:r>
              <a:rPr lang="en-US" sz="2000" dirty="0">
                <a:solidFill>
                  <a:srgbClr val="A5B4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"title"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59467" y="3499941"/>
            <a:ext cx="4444400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86EFA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Hello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59467" y="3868226"/>
            <a:ext cx="4444400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</a:t>
            </a:r>
            <a:r>
              <a:rPr lang="en-US" sz="2000" dirty="0">
                <a:solidFill>
                  <a:srgbClr val="5EEAD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h1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406388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82" y="1016000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first component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782" y="1777950"/>
            <a:ext cx="10883429" cy="88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component is a </a:t>
            </a:r>
            <a:r>
              <a:rPr lang="en-US" sz="26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</a:t>
            </a:r>
            <a:r>
              <a:rPr lang="en-US" sz="2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returns UI. Its name starts with a </a:t>
            </a:r>
            <a:r>
              <a:rPr lang="en-US" sz="26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letter</a:t>
            </a:r>
            <a:r>
              <a:rPr lang="en-US" sz="2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12782" y="2839641"/>
            <a:ext cx="5435293" cy="2349410"/>
          </a:xfrm>
          <a:prstGeom prst="roundRect">
            <a:avLst>
              <a:gd name="adj" fmla="val 5406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66205" y="3093641"/>
            <a:ext cx="5023382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C084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function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r>
              <a:rPr lang="en-US" sz="2000" dirty="0">
                <a:solidFill>
                  <a:srgbClr val="7DD3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Greeting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 {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1832" y="3461922"/>
            <a:ext cx="0" cy="368282"/>
          </a:xfrm>
          <a:prstGeom prst="line">
            <a:avLst/>
          </a:prstGeom>
          <a:noFill/>
          <a:ln w="38100">
            <a:solidFill>
              <a:srgbClr val="08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6205" y="3461922"/>
            <a:ext cx="5023382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C084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r>
              <a:rPr lang="en-US" sz="2000" dirty="0">
                <a:solidFill>
                  <a:srgbClr val="5EEAD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h1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Hello, React!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</a:t>
            </a:r>
            <a:r>
              <a:rPr lang="en-US" sz="2000" dirty="0">
                <a:solidFill>
                  <a:srgbClr val="5EEAD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h1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&gt;;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6205" y="3830203"/>
            <a:ext cx="5023382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66205" y="4566766"/>
            <a:ext cx="5023382" cy="39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C084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export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r>
              <a:rPr lang="en-US" sz="2000" dirty="0">
                <a:solidFill>
                  <a:srgbClr val="C084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default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Greeting</a:t>
            </a:r>
            <a:r>
              <a:rPr lang="en-US" sz="2000" dirty="0">
                <a:solidFill>
                  <a:srgbClr val="94A3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2000" dirty="0"/>
          </a:p>
        </p:txBody>
      </p:sp>
      <p:pic>
        <p:nvPicPr>
          <p:cNvPr id="12" name="Image 0" descr="arrow-right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6451248" y="3912735"/>
            <a:ext cx="406391" cy="203173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067162" y="3176116"/>
            <a:ext cx="4305706" cy="1676409"/>
          </a:xfrm>
          <a:prstGeom prst="roundRect">
            <a:avLst>
              <a:gd name="adj" fmla="val 7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072357" y="3181313"/>
            <a:ext cx="4295315" cy="467230"/>
          </a:xfrm>
          <a:custGeom>
            <a:avLst/>
            <a:gdLst/>
            <a:ahLst/>
            <a:cxnLst/>
            <a:rect l="l" t="t" r="r" b="b"/>
            <a:pathLst>
              <a:path w="4295315" h="467230">
                <a:moveTo>
                  <a:pt x="0" y="115455"/>
                </a:moveTo>
                <a:arcTo hR="115455" wR="115455" stAng="10800000" swAng="5400000"/>
                <a:lnTo>
                  <a:pt x="4179860" y="0"/>
                </a:lnTo>
                <a:arcTo hR="115455" wR="115455" stAng="16200000" swAng="5400000"/>
                <a:lnTo>
                  <a:pt x="4295315" y="467230"/>
                </a:lnTo>
                <a:lnTo>
                  <a:pt x="0" y="46723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7224748" y="3364142"/>
            <a:ext cx="101564" cy="101564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16" name="Shape 13"/>
          <p:cNvSpPr/>
          <p:nvPr/>
        </p:nvSpPr>
        <p:spPr>
          <a:xfrm>
            <a:off x="7389812" y="3364142"/>
            <a:ext cx="101564" cy="101564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17" name="Shape 14"/>
          <p:cNvSpPr/>
          <p:nvPr/>
        </p:nvSpPr>
        <p:spPr>
          <a:xfrm>
            <a:off x="7554876" y="3364142"/>
            <a:ext cx="101564" cy="101564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18" name="Text 15"/>
          <p:cNvSpPr/>
          <p:nvPr/>
        </p:nvSpPr>
        <p:spPr>
          <a:xfrm>
            <a:off x="7719940" y="3282876"/>
            <a:ext cx="1228418" cy="264102"/>
          </a:xfrm>
          <a:prstGeom prst="roundRect">
            <a:avLst>
              <a:gd name="adj" fmla="val 19235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localhost:5173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77140" y="4004103"/>
            <a:ext cx="3796324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Hello, React!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406388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82" y="1016000"/>
            <a:ext cx="1088342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Homework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19132" y="1784300"/>
            <a:ext cx="7607300" cy="2938877"/>
          </a:xfrm>
          <a:prstGeom prst="roundRect">
            <a:avLst>
              <a:gd name="adj" fmla="val 5834"/>
            </a:avLst>
          </a:prstGeom>
          <a:solidFill>
            <a:srgbClr val="F0F9FC"/>
          </a:solidFill>
          <a:ln w="12700">
            <a:solidFill>
              <a:srgbClr val="087EA4"/>
            </a:solidFill>
            <a:prstDash val="solid"/>
          </a:ln>
        </p:spPr>
      </p:sp>
      <p:pic>
        <p:nvPicPr>
          <p:cNvPr id="6" name="Image 0" descr="Boo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30718" y="2165400"/>
            <a:ext cx="355564" cy="3555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8673" y="2145060"/>
            <a:ext cx="3610137" cy="42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profile card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1243418" y="2806700"/>
            <a:ext cx="253991" cy="253991"/>
          </a:xfrm>
          <a:prstGeom prst="roundRect">
            <a:avLst>
              <a:gd name="adj" fmla="val 20001"/>
            </a:avLst>
          </a:prstGeom>
          <a:solidFill>
            <a:srgbClr val="FFFFFF"/>
          </a:solidFill>
          <a:ln w="25400">
            <a:solidFill>
              <a:srgbClr val="087EA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87891" y="2719090"/>
            <a:ext cx="4348216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Vite project, alone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1243418" y="3413739"/>
            <a:ext cx="253991" cy="253991"/>
          </a:xfrm>
          <a:prstGeom prst="roundRect">
            <a:avLst>
              <a:gd name="adj" fmla="val 20001"/>
            </a:avLst>
          </a:prstGeom>
          <a:solidFill>
            <a:srgbClr val="FFFFFF"/>
          </a:solidFill>
          <a:ln w="25400">
            <a:solidFill>
              <a:srgbClr val="087E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87891" y="3326129"/>
            <a:ext cx="5659203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Photo, name, short bio, 2 links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243418" y="4020772"/>
            <a:ext cx="253991" cy="253991"/>
          </a:xfrm>
          <a:prstGeom prst="roundRect">
            <a:avLst>
              <a:gd name="adj" fmla="val 20001"/>
            </a:avLst>
          </a:prstGeom>
          <a:solidFill>
            <a:srgbClr val="FFFFFF"/>
          </a:solidFill>
          <a:ln w="25400">
            <a:solidFill>
              <a:srgbClr val="087EA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87891" y="3933161"/>
            <a:ext cx="2809712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to GitHub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ct · Lecture 1 — Why React, and your first app">
  <a:themeElements>
    <a:clrScheme name="React · Lecture 1 — Why React, and your first app">
      <a:dk1>
        <a:srgbClr val="0F172A"/>
      </a:dk1>
      <a:lt1>
        <a:srgbClr val="FFFFFF"/>
      </a:lt1>
      <a:dk2>
        <a:srgbClr val="4B515F"/>
      </a:dk2>
      <a:lt2>
        <a:srgbClr val="E7E8EA"/>
      </a:lt2>
      <a:accent1>
        <a:srgbClr val="087EA4"/>
      </a:accent1>
      <a:accent2>
        <a:srgbClr val="64748B"/>
      </a:accent2>
      <a:accent3>
        <a:srgbClr val="E2E8F0"/>
      </a:accent3>
      <a:accent4>
        <a:srgbClr val="334155"/>
      </a:accent4>
      <a:accent5>
        <a:srgbClr val="475569"/>
      </a:accent5>
      <a:accent6>
        <a:srgbClr val="CBD5E1"/>
      </a:accent6>
      <a:hlink>
        <a:srgbClr val="0563C1"/>
      </a:hlink>
      <a:folHlink>
        <a:srgbClr val="954F72"/>
      </a:folHlink>
    </a:clrScheme>
    <a:fontScheme name="React · Lecture 1 — Why React, and your first app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· Lecture 1 — Why React, and your first app</dc:title>
  <dc:subject/>
  <dc:creator/>
  <cp:lastModifiedBy/>
  <cp:revision>1</cp:revision>
  <dcterms:created xsi:type="dcterms:W3CDTF">2026-10-02T17:56:23Z</dcterms:created>
  <dcterms:modified xsi:type="dcterms:W3CDTF">2026-10-02T17:56:23Z</dcterms:modified>
</cp:coreProperties>
</file>