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0" r:id="rId12"/>
    <p:sldId id="272" r:id="rId13"/>
    <p:sldId id="257" r:id="rId14"/>
    <p:sldId id="273" r:id="rId15"/>
    <p:sldId id="258" r:id="rId16"/>
    <p:sldId id="274" r:id="rId17"/>
    <p:sldId id="275" r:id="rId18"/>
    <p:sldId id="260" r:id="rId19"/>
    <p:sldId id="259" r:id="rId20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ABC6-568B-800F-CD97-8954A8AB5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296FD-5620-6F5B-2C37-EDB7395C7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08A13-272D-7FC3-67C1-99A3CE66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FE258-ABFF-A5A0-36D9-6F0D1D48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5A0B3-6E59-B2C1-059B-A7104963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8487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65E5-15CC-3AC1-8445-D54FB505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AC4E-909E-F0B5-5A44-0FF6FA78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9315F-1C4B-3439-763F-471C11A5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64552-5153-D790-711D-6337B603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69ACA-7250-6328-70C7-3B5912D7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760081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06D6-3806-99F1-043A-CC58A714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EBAA8-E3A2-B9E6-3C95-2D77D702B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6B25-8288-787B-09FA-3678FBE8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43F66-1050-74E2-A6B4-A475CB34A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D8D67-9EFF-45E1-1C0F-618961C2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79449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AACA-3688-0325-8F56-3463CA9A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A57A5-5EB1-BA49-39D7-B60E83D57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E35CF-0ABD-8CDC-0D5D-4B94B00F6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CC7A5-DE92-F31C-BE06-E52EE7EC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1328A-CF70-C438-2DB3-023A317B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BB0B3-E27C-CF3D-058D-32F0481C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31900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7531-CC66-D508-900A-D78B19BB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61DC9-AF4C-4EDB-E42D-76483FECF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807B8-9F5D-F6BC-698A-4DA415F84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A67BC-D693-92A4-27B7-F59D932F1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4CC23-5890-C695-B6D2-304D26EC5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F8D25-C609-7991-ED36-852B8861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43BBD-A58E-40D0-F154-EAA0C192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6D439-0146-6F3E-57BF-0DD0D468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44266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210C-E890-A746-25EC-880D9DBC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EDAFE-61C8-5B2C-ED60-5B7A72D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2863E-429C-E98C-A42A-D9A1FBF8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2BB32-F602-270C-6545-128E3210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64764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EF0A5E-A321-E451-48B0-6D2C5DEB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D3EA6-FA87-B982-3858-F26A5E49C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4FB64-F495-6580-F12D-C1748DAC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11358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D184-E253-58B9-0FE9-A12A79F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A83E9-1085-F914-4711-C31CA06CD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33888-6938-4F35-C99E-7B12FB18D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9E2D7-CBC1-0703-9984-9AF4B85B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09D47-AD34-E2B2-00E4-68DEE022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ED0D5-C45B-8EAC-03EA-0A6E213A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17127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39B0-CFA3-E1AD-6088-74257CE7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D09946-9B74-5C71-6C61-3BB737B98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92D71-8203-42C5-57C1-F618BEBC4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9AC90-05C1-5F57-0B82-0E831291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CDB6A-DC64-38C8-DBE5-B83CDB3E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48F69-B8F7-7F5B-B128-C332B49E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780657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2AC1-26F4-F6BD-AA64-7B0ECD94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8E24E-7901-263E-2E4B-08396A22E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E251F-8EDC-E71A-C1E7-882140EF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35059-516C-6EDD-7E9F-D5760D0F0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C2367-5DDC-5601-F413-751E084D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5547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5C7AB7-5967-1FA1-EEFA-58D15EEDE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7689-08A5-0EF9-9ECE-13B520B03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F264D-BC64-5192-EA17-0E1ED37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2BB92-2472-88F0-2CF4-D78E464E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194AA-D38A-DD1E-4003-F24D60FD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83444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0DBD8-9BC3-BF21-1024-80E80E59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AD646-13F3-E294-5C77-D85515D56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4E75B-49C5-E9B2-0E27-373167CEE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0D949-4EDA-734D-AB41-D2E7C5FEF28A}" type="datetimeFigureOut">
              <a:rPr lang="en-GE" smtClean="0"/>
              <a:t>12.08.25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9B598-FF36-FE68-33E8-88C0C2819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F7F0-FC9A-F3C5-3EE3-544A41E5A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D1C89-2696-8F47-BC81-0EFA27290A6B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76615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553B8-C185-B7AC-5034-12A9F57FC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8721F-5231-9328-08B4-BA2740678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modern way for creating complex layouts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79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BD73E-276B-67DF-445E-8622408C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 dirty="0"/>
              <a:t>Creating grid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E5EE9-AD27-3513-B011-9ECB032A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D</a:t>
            </a:r>
            <a:r>
              <a:rPr lang="en-GE" sz="2000" dirty="0"/>
              <a:t>isplay: grid;</a:t>
            </a:r>
          </a:p>
          <a:p>
            <a:pPr marL="0" indent="0">
              <a:buNone/>
            </a:pPr>
            <a:r>
              <a:rPr lang="en-GB" sz="2000" dirty="0"/>
              <a:t>D</a:t>
            </a:r>
            <a:r>
              <a:rPr lang="en-GE" sz="2000" dirty="0"/>
              <a:t>isplay: inline-grid</a:t>
            </a:r>
          </a:p>
        </p:txBody>
      </p:sp>
    </p:spTree>
    <p:extLst>
      <p:ext uri="{BB962C8B-B14F-4D97-AF65-F5344CB8AC3E}">
        <p14:creationId xmlns:p14="http://schemas.microsoft.com/office/powerpoint/2010/main" val="2341063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57138-BAB2-737A-FF95-8552D239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 dirty="0"/>
              <a:t>Grid container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4461-462D-DD97-BDE2-BD4321B40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grid-template-columns / grid-template-rows;</a:t>
            </a:r>
          </a:p>
          <a:p>
            <a:pPr lvl="1"/>
            <a:r>
              <a:rPr lang="en-GB" sz="2000" dirty="0" err="1"/>
              <a:t>px</a:t>
            </a:r>
            <a:r>
              <a:rPr lang="en-GB" sz="2000" dirty="0"/>
              <a:t>, %, </a:t>
            </a:r>
            <a:r>
              <a:rPr lang="en-GB" sz="2000" dirty="0" err="1"/>
              <a:t>fr</a:t>
            </a:r>
            <a:endParaRPr lang="en-GB" sz="2000" dirty="0"/>
          </a:p>
          <a:p>
            <a:pPr lvl="1"/>
            <a:r>
              <a:rPr lang="en-GB" sz="2000" dirty="0"/>
              <a:t>repeat(), minmax(), auto-fill, auto-fit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E" sz="2000" dirty="0"/>
          </a:p>
        </p:txBody>
      </p:sp>
    </p:spTree>
    <p:extLst>
      <p:ext uri="{BB962C8B-B14F-4D97-AF65-F5344CB8AC3E}">
        <p14:creationId xmlns:p14="http://schemas.microsoft.com/office/powerpoint/2010/main" val="220942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9B54D-5623-EB12-0DE4-58C929D63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0F4D-1E0A-92F5-D198-65F2D7479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G</a:t>
            </a:r>
            <a:r>
              <a:rPr lang="en-GE" sz="2000" dirty="0"/>
              <a:t>ap</a:t>
            </a:r>
          </a:p>
          <a:p>
            <a:pPr marL="0" indent="0">
              <a:buNone/>
            </a:pPr>
            <a:r>
              <a:rPr lang="en-GB" sz="2000" dirty="0"/>
              <a:t>R</a:t>
            </a:r>
            <a:r>
              <a:rPr lang="en-GE" sz="2000" dirty="0"/>
              <a:t>ow-gap</a:t>
            </a:r>
          </a:p>
          <a:p>
            <a:pPr marL="0" indent="0">
              <a:buNone/>
            </a:pPr>
            <a:r>
              <a:rPr lang="en-GB" sz="2000" dirty="0"/>
              <a:t>C</a:t>
            </a:r>
            <a:r>
              <a:rPr lang="en-GE" sz="2000" dirty="0"/>
              <a:t>olumn-gap</a:t>
            </a:r>
          </a:p>
        </p:txBody>
      </p:sp>
    </p:spTree>
    <p:extLst>
      <p:ext uri="{BB962C8B-B14F-4D97-AF65-F5344CB8AC3E}">
        <p14:creationId xmlns:p14="http://schemas.microsoft.com/office/powerpoint/2010/main" val="3259521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263A1-A3EF-0BB7-C06E-CFB5DFEE1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E" sz="5400"/>
              <a:t>Auto columns / rows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4B0E-B64B-FA71-18D4-759459F5C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400" dirty="0"/>
              <a:t>Grid-auto-columns</a:t>
            </a:r>
          </a:p>
          <a:p>
            <a:pPr marL="0" indent="0">
              <a:buNone/>
            </a:pPr>
            <a:r>
              <a:rPr lang="en-GB" sz="2400" dirty="0"/>
              <a:t>G</a:t>
            </a:r>
            <a:r>
              <a:rPr lang="en-GE" sz="2400" dirty="0"/>
              <a:t>rid-auto-rows</a:t>
            </a:r>
          </a:p>
        </p:txBody>
      </p:sp>
    </p:spTree>
    <p:extLst>
      <p:ext uri="{BB962C8B-B14F-4D97-AF65-F5344CB8AC3E}">
        <p14:creationId xmlns:p14="http://schemas.microsoft.com/office/powerpoint/2010/main" val="60366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29163-0BD0-F647-0988-EC1782D1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E" sz="5400" dirty="0"/>
              <a:t>Position items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8EDB0-DAD5-A58F-9A04-2904FEED2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justify-items</a:t>
            </a:r>
          </a:p>
          <a:p>
            <a:pPr marL="0" indent="0">
              <a:buNone/>
            </a:pPr>
            <a:r>
              <a:rPr lang="en-GB" sz="2400" dirty="0"/>
              <a:t>align-items</a:t>
            </a:r>
          </a:p>
          <a:p>
            <a:pPr marL="0" indent="0">
              <a:buNone/>
            </a:pPr>
            <a:r>
              <a:rPr lang="en-GB" sz="2400" dirty="0"/>
              <a:t>place-items ( shorthand for combination )</a:t>
            </a:r>
            <a:endParaRPr lang="en-GE" sz="2400" dirty="0"/>
          </a:p>
        </p:txBody>
      </p:sp>
    </p:spTree>
    <p:extLst>
      <p:ext uri="{BB962C8B-B14F-4D97-AF65-F5344CB8AC3E}">
        <p14:creationId xmlns:p14="http://schemas.microsoft.com/office/powerpoint/2010/main" val="275891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15BC8-C3F6-51FF-106A-3BEDD05DA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Position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7E9B-0EFA-F70F-135A-5B4EC1A7C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justify-content,</a:t>
            </a:r>
          </a:p>
          <a:p>
            <a:pPr marL="0" indent="0">
              <a:buNone/>
            </a:pPr>
            <a:r>
              <a:rPr lang="en-GB" sz="2400" dirty="0"/>
              <a:t>align-content,</a:t>
            </a:r>
          </a:p>
          <a:p>
            <a:pPr marL="0" indent="0">
              <a:buNone/>
            </a:pPr>
            <a:r>
              <a:rPr lang="en-GB" sz="2400" dirty="0"/>
              <a:t>place-content ( shorthand for combination )</a:t>
            </a:r>
            <a:endParaRPr lang="en-G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72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C0A5D-D035-7F7F-8B5C-026B7CA8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Grid item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C6B7-7AB3-CB31-9308-B613AEFDF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grid-column-start</a:t>
            </a:r>
          </a:p>
          <a:p>
            <a:pPr marL="0" indent="0">
              <a:buNone/>
            </a:pPr>
            <a:r>
              <a:rPr lang="en-GB" sz="2000"/>
              <a:t>grid-column-end</a:t>
            </a:r>
          </a:p>
          <a:p>
            <a:pPr marL="0" indent="0">
              <a:buNone/>
            </a:pPr>
            <a:r>
              <a:rPr lang="en-GB" sz="2000"/>
              <a:t>grid-row-start</a:t>
            </a:r>
          </a:p>
          <a:p>
            <a:pPr marL="0" indent="0">
              <a:buNone/>
            </a:pPr>
            <a:r>
              <a:rPr lang="en-GB" sz="2000"/>
              <a:t>grid-row-end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r>
              <a:rPr lang="en-GB" sz="2000"/>
              <a:t>Shorthand: grid-row, grid-column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4011589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ECA60-3FF1-5D33-7E7F-5253AC55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Fonts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AAD9-85FB-8F1D-DD84-D2BAF9CF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GE" sz="2400" dirty="0"/>
              <a:t>The ways to include fonts in app</a:t>
            </a:r>
          </a:p>
          <a:p>
            <a:r>
              <a:rPr lang="en-GE" sz="2400" dirty="0"/>
              <a:t>Typeface vs Font</a:t>
            </a:r>
          </a:p>
          <a:p>
            <a:r>
              <a:rPr lang="en-GE" sz="2400" dirty="0"/>
              <a:t>System fonts vs Web fonts</a:t>
            </a:r>
          </a:p>
          <a:p>
            <a:r>
              <a:rPr lang="en-GB" sz="2400" dirty="0"/>
              <a:t>Common Font Formats</a:t>
            </a:r>
            <a:endParaRPr lang="en-G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183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B91C8-4739-C885-1DF7-5D6A2FE0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 dirty="0"/>
              <a:t>System fonts vs Web fonts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D4F96-499E-3FA8-9FBC-8B9BB39B6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GB" sz="1700" b="1" dirty="0"/>
              <a:t>System Fonts</a:t>
            </a:r>
            <a:endParaRPr lang="en-GB" sz="1700" dirty="0"/>
          </a:p>
          <a:p>
            <a:pPr lvl="1"/>
            <a:r>
              <a:rPr lang="en-GB" sz="1700" dirty="0"/>
              <a:t>Preinstalled on the operating system.</a:t>
            </a:r>
          </a:p>
          <a:p>
            <a:pPr lvl="1"/>
            <a:r>
              <a:rPr lang="en-GB" sz="1700" dirty="0"/>
              <a:t>Examples: Arial, Times New Roman, Verdana.</a:t>
            </a:r>
          </a:p>
          <a:p>
            <a:pPr lvl="1"/>
            <a:r>
              <a:rPr lang="en-GB" sz="1700" dirty="0"/>
              <a:t>Pros: No loading time.</a:t>
            </a:r>
          </a:p>
          <a:p>
            <a:pPr lvl="1"/>
            <a:r>
              <a:rPr lang="en-GB" sz="1700" dirty="0"/>
              <a:t>Cons: Limited variety; varies between platforms.</a:t>
            </a:r>
          </a:p>
          <a:p>
            <a:r>
              <a:rPr lang="en-GB" sz="1700" b="1" dirty="0"/>
              <a:t>Web Fonts</a:t>
            </a:r>
            <a:endParaRPr lang="en-GB" sz="1700" dirty="0"/>
          </a:p>
          <a:p>
            <a:pPr lvl="1"/>
            <a:r>
              <a:rPr lang="en-GB" sz="1700" dirty="0"/>
              <a:t>Downloaded from a server when the page loads.</a:t>
            </a:r>
          </a:p>
          <a:p>
            <a:pPr lvl="1"/>
            <a:r>
              <a:rPr lang="en-GB" sz="1700" dirty="0"/>
              <a:t>Examples: Google Fonts, Adobe Fonts.</a:t>
            </a:r>
          </a:p>
          <a:p>
            <a:pPr lvl="1"/>
            <a:r>
              <a:rPr lang="en-GB" sz="1700" dirty="0"/>
              <a:t>Pros: Huge variety, unique designs.</a:t>
            </a:r>
          </a:p>
          <a:p>
            <a:pPr lvl="1"/>
            <a:r>
              <a:rPr lang="en-GB" sz="1700" dirty="0"/>
              <a:t>Cons: Adds load time unless optimized.</a:t>
            </a:r>
          </a:p>
          <a:p>
            <a:endParaRPr lang="en-GE" sz="17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46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F5574-AC5E-F029-CF0E-E3FD5D99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Ways to include fonts in the app: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13159-A39C-D7F3-5FE3-6CC2623E0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1100"/>
              <a:t>Use built in OS fonts</a:t>
            </a:r>
          </a:p>
          <a:p>
            <a:pPr marL="0" indent="0">
              <a:buNone/>
            </a:pPr>
            <a:r>
              <a:rPr lang="en-GE" sz="1100"/>
              <a:t>Use @font-face</a:t>
            </a:r>
          </a:p>
          <a:p>
            <a:pPr marL="0" indent="0">
              <a:buNone/>
            </a:pPr>
            <a:r>
              <a:rPr lang="en-GB" sz="1100"/>
              <a:t>@font-face {</a:t>
            </a:r>
          </a:p>
          <a:p>
            <a:pPr marL="0" indent="0">
              <a:buNone/>
            </a:pPr>
            <a:r>
              <a:rPr lang="en-GB" sz="1100"/>
              <a:t>  font-family: &lt;FONT_NAME&gt;;</a:t>
            </a:r>
          </a:p>
          <a:p>
            <a:pPr marL="0" indent="0">
              <a:buNone/>
            </a:pPr>
            <a:r>
              <a:rPr lang="en-GB" sz="1100"/>
              <a:t>  src: url(&lt;ADDRESS_TO_WOF2&gt;) format('woff2'),</a:t>
            </a:r>
          </a:p>
          <a:p>
            <a:pPr marL="0" indent="0">
              <a:buNone/>
            </a:pPr>
            <a:r>
              <a:rPr lang="en-GB" sz="1100"/>
              <a:t>       url(&lt;ADDRESS_TO_WOF&gt;) format('woff');</a:t>
            </a:r>
          </a:p>
          <a:p>
            <a:pPr marL="0" indent="0">
              <a:buNone/>
            </a:pPr>
            <a:r>
              <a:rPr lang="en-GB" sz="1100"/>
              <a:t>  font-weight: DEFINE_FONT_WEIGHT;</a:t>
            </a:r>
          </a:p>
          <a:p>
            <a:pPr marL="0" indent="0">
              <a:buNone/>
            </a:pPr>
            <a:r>
              <a:rPr lang="en-GB" sz="1100"/>
              <a:t>  font-style: DEFINE_FONT_STYLE;</a:t>
            </a:r>
          </a:p>
          <a:p>
            <a:pPr marL="0" indent="0">
              <a:buNone/>
            </a:pPr>
            <a:r>
              <a:rPr lang="en-GB" sz="1100"/>
              <a:t>  font-display: swap;</a:t>
            </a:r>
          </a:p>
          <a:p>
            <a:pPr marL="0" indent="0">
              <a:buNone/>
            </a:pPr>
            <a:r>
              <a:rPr lang="en-GB" sz="1100"/>
              <a:t>}</a:t>
            </a:r>
            <a:endParaRPr lang="en-GE" sz="1100"/>
          </a:p>
          <a:p>
            <a:pPr marL="0" indent="0">
              <a:buNone/>
            </a:pPr>
            <a:r>
              <a:rPr lang="en-GE" sz="1100"/>
              <a:t>Use linking from index html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732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9F333-7378-C3B5-ED0D-4BBF58C9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Font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52F4A-1B00-2F36-1197-1A7147535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GB" sz="2400" dirty="0"/>
              <a:t>Woff2 (Web Open Font Format) → best for modern browsers (smallest size).</a:t>
            </a:r>
          </a:p>
          <a:p>
            <a:r>
              <a:rPr lang="en-GB" sz="2400" dirty="0" err="1"/>
              <a:t>Woff</a:t>
            </a:r>
            <a:r>
              <a:rPr lang="en-GB" sz="2400" dirty="0"/>
              <a:t> (Web Open Font Format) → fallback for slightly older browsers.</a:t>
            </a:r>
          </a:p>
          <a:p>
            <a:r>
              <a:rPr lang="en-GB" sz="2400" dirty="0" err="1"/>
              <a:t>ttf</a:t>
            </a:r>
            <a:r>
              <a:rPr lang="en-GB" sz="2400" dirty="0"/>
              <a:t> / </a:t>
            </a:r>
            <a:r>
              <a:rPr lang="en-GB" sz="2400" dirty="0" err="1"/>
              <a:t>otf</a:t>
            </a:r>
            <a:r>
              <a:rPr lang="en-GB" sz="2400" dirty="0"/>
              <a:t> (TrueType Font / OpenType Font) → larger, not as optimized for web.</a:t>
            </a:r>
          </a:p>
          <a:p>
            <a:r>
              <a:rPr lang="en-GB" sz="2400" dirty="0" err="1"/>
              <a:t>Eot</a:t>
            </a:r>
            <a:r>
              <a:rPr lang="en-GB" sz="2400" dirty="0"/>
              <a:t> (Embedded OpenType) → needed only for old IE.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17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58366-5634-58E9-16A3-F19384E9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Use font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AC0B-E5CD-663F-71C9-EAA78B5E2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GE" sz="2000"/>
              <a:t>Font-family</a:t>
            </a:r>
          </a:p>
          <a:p>
            <a:r>
              <a:rPr lang="en-GB" sz="2000"/>
              <a:t>F</a:t>
            </a:r>
            <a:r>
              <a:rPr lang="en-GE" sz="2000"/>
              <a:t>ont-size</a:t>
            </a:r>
          </a:p>
          <a:p>
            <a:r>
              <a:rPr lang="en-GB" sz="2000"/>
              <a:t>F</a:t>
            </a:r>
            <a:r>
              <a:rPr lang="en-GE" sz="2000"/>
              <a:t>ont-weight</a:t>
            </a:r>
          </a:p>
          <a:p>
            <a:r>
              <a:rPr lang="en-GB" sz="2000"/>
              <a:t>F</a:t>
            </a:r>
            <a:r>
              <a:rPr lang="en-GE" sz="2000"/>
              <a:t>ont-style</a:t>
            </a:r>
          </a:p>
          <a:p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064743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BA5F3-743E-3417-1DF1-1842A5D9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E" sz="5400"/>
              <a:t>Additional text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1A1D1-9B6B-A4A6-5568-0C83006F8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Letter spacing</a:t>
            </a:r>
          </a:p>
          <a:p>
            <a:pPr marL="0" indent="0">
              <a:buNone/>
            </a:pPr>
            <a:r>
              <a:rPr lang="en-GE" sz="2000"/>
              <a:t>Word spacing</a:t>
            </a:r>
          </a:p>
          <a:p>
            <a:pPr marL="0" indent="0">
              <a:buNone/>
            </a:pPr>
            <a:r>
              <a:rPr lang="en-GB" sz="2000"/>
              <a:t>L</a:t>
            </a:r>
            <a:r>
              <a:rPr lang="en-GE" sz="2000"/>
              <a:t>ine height</a:t>
            </a:r>
          </a:p>
        </p:txBody>
      </p:sp>
    </p:spTree>
    <p:extLst>
      <p:ext uri="{BB962C8B-B14F-4D97-AF65-F5344CB8AC3E}">
        <p14:creationId xmlns:p14="http://schemas.microsoft.com/office/powerpoint/2010/main" val="1568971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DFBB8-A9E8-6355-15F7-3F30BB49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B</a:t>
            </a:r>
            <a:r>
              <a:rPr lang="en-GE" sz="4800"/>
              <a:t>ackground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01DEC-E4AB-B6AA-EEE1-5EB221282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B</a:t>
            </a:r>
            <a:r>
              <a:rPr lang="en-GE" sz="2400"/>
              <a:t>ackground-image</a:t>
            </a:r>
          </a:p>
          <a:p>
            <a:pPr marL="0" indent="0">
              <a:buNone/>
            </a:pPr>
            <a:r>
              <a:rPr lang="en-GB" sz="2400"/>
              <a:t>B</a:t>
            </a:r>
            <a:r>
              <a:rPr lang="en-GE" sz="2400"/>
              <a:t>ackground-color</a:t>
            </a:r>
          </a:p>
          <a:p>
            <a:pPr marL="0" indent="0">
              <a:buNone/>
            </a:pP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380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2D1AA-1767-C543-3148-0935DC9C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Properties combining with background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EC9E-E1F0-EBAF-66D0-27DA8529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B</a:t>
            </a:r>
            <a:r>
              <a:rPr lang="en-GE" sz="2400"/>
              <a:t>ackground-repeat: </a:t>
            </a:r>
            <a:r>
              <a:rPr lang="en-GB" sz="2400"/>
              <a:t>repeat, repeat-x, repeat-y, no-repeat;</a:t>
            </a:r>
          </a:p>
          <a:p>
            <a:pPr marL="0" indent="0">
              <a:buNone/>
            </a:pPr>
            <a:r>
              <a:rPr lang="en-GB" sz="2400"/>
              <a:t>Background-position: top, right, bottom, center, left;</a:t>
            </a:r>
          </a:p>
          <a:p>
            <a:pPr marL="0" indent="0">
              <a:buNone/>
            </a:pPr>
            <a:r>
              <a:rPr lang="en-GB" sz="2400"/>
              <a:t>Background-size: length, cover, contain</a:t>
            </a:r>
          </a:p>
          <a:p>
            <a:pPr marL="0" indent="0">
              <a:buNone/>
            </a:pPr>
            <a:endParaRPr lang="en-GE" sz="2400"/>
          </a:p>
          <a:p>
            <a:pPr marL="0" indent="0">
              <a:buNone/>
            </a:pP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544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27DF8D-308C-0EF2-76B3-9EA4DE30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8B00B-6955-55B1-94EB-B9BB5D352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linear-gradient(</a:t>
            </a:r>
            <a:r>
              <a:rPr lang="en-GB" sz="2400" i="1" dirty="0"/>
              <a:t>direction</a:t>
            </a:r>
            <a:r>
              <a:rPr lang="en-GB" sz="2400" dirty="0"/>
              <a:t>, </a:t>
            </a:r>
            <a:r>
              <a:rPr lang="en-GB" sz="2400" i="1" dirty="0"/>
              <a:t>color-1</a:t>
            </a:r>
            <a:r>
              <a:rPr lang="en-GB" sz="2400" dirty="0"/>
              <a:t>, </a:t>
            </a:r>
            <a:r>
              <a:rPr lang="en-GB" sz="2400" i="1" dirty="0"/>
              <a:t>color-2, …, </a:t>
            </a:r>
            <a:r>
              <a:rPr lang="en-GB" sz="2400" i="1" dirty="0" err="1"/>
              <a:t>color</a:t>
            </a:r>
            <a:r>
              <a:rPr lang="en-GB" sz="2400" i="1" dirty="0"/>
              <a:t>-n</a:t>
            </a:r>
            <a:r>
              <a:rPr lang="en-GB" sz="2400" dirty="0"/>
              <a:t>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https://</a:t>
            </a:r>
            <a:r>
              <a:rPr lang="en-GB" sz="2400" dirty="0" err="1"/>
              <a:t>cssgradient.io</a:t>
            </a:r>
            <a:r>
              <a:rPr lang="en-GB" sz="2400" dirty="0"/>
              <a:t>/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311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5BA4F-AC49-410F-A853-DB674763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Shadows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18F11-A810-21E0-B88F-74C57F2E8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B</a:t>
            </a:r>
            <a:r>
              <a:rPr lang="en-GE" sz="2400" dirty="0"/>
              <a:t>ox-shadow: [</a:t>
            </a:r>
            <a:r>
              <a:rPr lang="en-GB" sz="2400" dirty="0"/>
              <a:t>inset</a:t>
            </a:r>
            <a:r>
              <a:rPr lang="en-GE" sz="2400" dirty="0"/>
              <a:t>]</a:t>
            </a:r>
            <a:r>
              <a:rPr lang="en-GB" sz="2400" dirty="0"/>
              <a:t>, h-offset, v-offset, blur, spread, </a:t>
            </a:r>
            <a:r>
              <a:rPr lang="en-GB" sz="2400" dirty="0" err="1"/>
              <a:t>color</a:t>
            </a:r>
            <a:r>
              <a:rPr lang="en-GB" sz="2400" dirty="0"/>
              <a:t> / none</a:t>
            </a:r>
          </a:p>
          <a:p>
            <a:pPr marL="0" indent="0">
              <a:buNone/>
            </a:pPr>
            <a:r>
              <a:rPr lang="en-GB" sz="2400" dirty="0"/>
              <a:t>Text-shadow: h-shadow, v-shadow, blur-radius, </a:t>
            </a:r>
            <a:r>
              <a:rPr lang="en-GB" sz="2400" dirty="0" err="1"/>
              <a:t>color</a:t>
            </a:r>
            <a:r>
              <a:rPr lang="en-GB" sz="2400" dirty="0"/>
              <a:t> ‘/ none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520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16F8A-7B96-5181-D48C-5D7D61B2D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Overflows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AB96-C87B-2854-5EE4-F0D05B882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O</a:t>
            </a:r>
            <a:r>
              <a:rPr lang="en-GE" sz="2400"/>
              <a:t>verflow: hidden</a:t>
            </a:r>
          </a:p>
          <a:p>
            <a:pPr marL="0" indent="0">
              <a:buNone/>
            </a:pPr>
            <a:r>
              <a:rPr lang="en-GB" sz="2400"/>
              <a:t>O</a:t>
            </a:r>
            <a:r>
              <a:rPr lang="en-GE" sz="2400"/>
              <a:t>verflow: scroll</a:t>
            </a:r>
          </a:p>
          <a:p>
            <a:pPr marL="0" indent="0">
              <a:buNone/>
            </a:pPr>
            <a:r>
              <a:rPr lang="en-GB" sz="2400"/>
              <a:t>O</a:t>
            </a:r>
            <a:r>
              <a:rPr lang="en-GE" sz="2400"/>
              <a:t>verflow-y: hidden;</a:t>
            </a:r>
          </a:p>
          <a:p>
            <a:pPr marL="0" indent="0">
              <a:buNone/>
            </a:pPr>
            <a:r>
              <a:rPr lang="en-GB" sz="2400"/>
              <a:t>O</a:t>
            </a:r>
            <a:r>
              <a:rPr lang="en-GE" sz="2400"/>
              <a:t>verflow-y: scroll;</a:t>
            </a:r>
          </a:p>
          <a:p>
            <a:pPr marL="0" indent="0">
              <a:buNone/>
            </a:pPr>
            <a:r>
              <a:rPr lang="en-GB" sz="2400"/>
              <a:t>O</a:t>
            </a:r>
            <a:r>
              <a:rPr lang="en-GE" sz="2400"/>
              <a:t>verflow-x: hidden;</a:t>
            </a:r>
          </a:p>
          <a:p>
            <a:pPr marL="0" indent="0">
              <a:buNone/>
            </a:pPr>
            <a:r>
              <a:rPr lang="en-GB" sz="2400"/>
              <a:t>O</a:t>
            </a:r>
            <a:r>
              <a:rPr lang="en-GE" sz="2400"/>
              <a:t>verflow-x: scroll;</a:t>
            </a:r>
          </a:p>
          <a:p>
            <a:pPr marL="0" indent="0">
              <a:buNone/>
            </a:pPr>
            <a:endParaRPr lang="en-G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27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463</Words>
  <Application>Microsoft Macintosh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Grid</vt:lpstr>
      <vt:lpstr>Creating grid container</vt:lpstr>
      <vt:lpstr>Grid container properties</vt:lpstr>
      <vt:lpstr>Gap</vt:lpstr>
      <vt:lpstr>Auto columns / rows</vt:lpstr>
      <vt:lpstr>Position items</vt:lpstr>
      <vt:lpstr>Position content</vt:lpstr>
      <vt:lpstr>Grid item properties</vt:lpstr>
      <vt:lpstr>Fonts</vt:lpstr>
      <vt:lpstr>System fonts vs Web fonts</vt:lpstr>
      <vt:lpstr>Ways to include fonts in the app:</vt:lpstr>
      <vt:lpstr>Font formats</vt:lpstr>
      <vt:lpstr>Use font</vt:lpstr>
      <vt:lpstr>Additional text properties</vt:lpstr>
      <vt:lpstr>Background property</vt:lpstr>
      <vt:lpstr>Properties combining with background image</vt:lpstr>
      <vt:lpstr>Gradient</vt:lpstr>
      <vt:lpstr>Shadows</vt:lpstr>
      <vt:lpstr>Overflows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1</cp:revision>
  <dcterms:created xsi:type="dcterms:W3CDTF">2025-08-12T12:57:01Z</dcterms:created>
  <dcterms:modified xsi:type="dcterms:W3CDTF">2025-08-12T17:15:39Z</dcterms:modified>
</cp:coreProperties>
</file>