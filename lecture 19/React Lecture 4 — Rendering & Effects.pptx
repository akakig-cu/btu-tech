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Counter from Lecture 3. Add console.log('render') live, at the top of the function. Click the button two times and point at the console: one "render" for the first draw, then one per click. Key sentence: a re-render means React calls your function again. A state change is what starts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does not change the page directly. It keeps a plan of the page as JS objects: the Virtual DOM. After a state change, React makes a new plan and compares it with the old one. Only the difference goes to the real DOM — here, one node. Changing the real DOM is slow; comparing JS objects is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Keys tell React which item is which between two renders. We delete B. With key = index, C gets key 1 — the old key of B — so React gives C the row and state of B, and thinks C was deleted. With key = id, React matches A to A and C to C. Demo: a list with an input in each row and key={index}. Type in row B, delete B: the text jumps to the wrong row. Switch to key={item.id}: fixed. Rule: use a stable id when items can move or be deleted.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component has a life. Mount: it appears on the screen for the first time. Update: it re-renders — this can happen many times. Unmount: it is removed from the screen. Like a window: you open it, you edit it, you close it. useEffect lets us run code at each of these moments.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Rendering only calculates JSX from props and state. Everything else goes in an effect. A side effect touches the world outside the component: a timer (setInterval), the browser tab title (document.title), storage (localStorage), the network (fetch to an API).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useEffect takes a function. React runs it after the render, when the screen is already drawn. Live: add this to the Counter and click — watch the browser tab title change. The [count] at the end means "run again when count changes". That is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slide today. Read each row slowly. No array: the effect runs after every render. Empty array: once, when the component mounts. [x]: on mount, and again every time x changes. Quiz her: cover the right column and ask "When does this run?" Then ask in a mixed order, and the other way round ("I want it once — what do I write?"). Repeat until she answers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effect can return a function: the cleanup. React runs it before the component unmounts, and before the effect runs again. Demo: the timer without the return line. Show and hide the component a few times — the timer gets faster, because the old intervals are still running. Add the return line and repeat: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both live so she recognizes them. 1) setState inside an effect with no array: render → effect → setState → render → … forever. The page freezes. Fix: add the dependency array. 2) In development, StrictMode mounts, unmounts and mounts again, so effects run twice. This is on purpose: it helps find missing cleanups. It does not happen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only, keep it short. useRef gives you a box: an object with .current. The box keeps its value between renders. Unlike state, changing a ref doesn't update the screen — no re-render. Most common use: get a DOM element, for example to focus an input. Show a "Focus" button that calls inputRef.current.focus(),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Take the shopping list from Lecture 3. Save it to localStorage in an effect when the list changes, and load it when the app starts. 2) Make a component that shows the window width (window.innerWidth). 3) Update it with a resize listener added in an effect — and remove the listener in the cleanup. Remind her: effects running twice in the console is StrictMode, and it is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812781"/>
            <a:ext cx="10566436" cy="53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648447"/>
            <a:ext cx="10566418" cy="4396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812781"/>
            <a:ext cx="10566436" cy="53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648447"/>
            <a:ext cx="10566418" cy="4396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4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2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 render?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782" y="1445211"/>
            <a:ext cx="10883429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calls your component function again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782" y="2146192"/>
            <a:ext cx="7911657" cy="3606421"/>
          </a:xfrm>
          <a:prstGeom prst="roundRect">
            <a:avLst>
              <a:gd name="adj" fmla="val 352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104269" y="2349365"/>
            <a:ext cx="7534851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function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Counter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346" y="2704928"/>
            <a:ext cx="7505312" cy="355564"/>
          </a:xfrm>
          <a:prstGeom prst="rect">
            <a:avLst/>
          </a:prstGeom>
          <a:solidFill>
            <a:srgbClr val="087EA4">
              <a:alpha val="28000"/>
            </a:srgbClr>
          </a:solidFill>
          <a:ln/>
        </p:spPr>
        <p:txBody>
          <a:bodyPr wrap="none" lIns="189923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console.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log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20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'render'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3396" y="2704928"/>
            <a:ext cx="0" cy="355564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269" y="3060492"/>
            <a:ext cx="7534851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[count, setCount] =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useState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04269" y="3416056"/>
            <a:ext cx="7534851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04269" y="3771620"/>
            <a:ext cx="7534851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&lt;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button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0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onClick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={() =&gt; </a:t>
            </a:r>
            <a:r>
              <a:rPr lang="en-US" sz="20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setCount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(count + </a:t>
            </a:r>
            <a:r>
              <a:rPr lang="en-US" sz="20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)}&gt;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04269" y="4127184"/>
            <a:ext cx="7534851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{count}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04269" y="4482748"/>
            <a:ext cx="7534851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&lt;/</a:t>
            </a:r>
            <a:r>
              <a:rPr lang="en-US" sz="20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button</a:t>
            </a: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04269" y="4838312"/>
            <a:ext cx="7534851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);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04269" y="5193876"/>
            <a:ext cx="7534851" cy="380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84790" y="2152542"/>
            <a:ext cx="2388078" cy="3593721"/>
          </a:xfrm>
          <a:prstGeom prst="roundRect">
            <a:avLst>
              <a:gd name="adj" fmla="val 50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3158" y="2772451"/>
            <a:ext cx="197134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3158" y="2310128"/>
            <a:ext cx="2030481" cy="380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93158" y="3342689"/>
            <a:ext cx="197134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93158" y="2880401"/>
            <a:ext cx="2030481" cy="38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render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93158" y="3912926"/>
            <a:ext cx="1971341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93158" y="3450639"/>
            <a:ext cx="2030481" cy="38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render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93158" y="4020876"/>
            <a:ext cx="2030481" cy="38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render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4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1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DOM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782" y="1445211"/>
            <a:ext cx="10883429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two plans. Change only the difference.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66563" y="2790067"/>
            <a:ext cx="2550391" cy="2408012"/>
          </a:xfrm>
          <a:prstGeom prst="roundRect">
            <a:avLst>
              <a:gd name="adj" fmla="val 6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4581" y="2998436"/>
            <a:ext cx="1154311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2400" dirty="0"/>
          </a:p>
        </p:txBody>
      </p:sp>
      <p:pic>
        <p:nvPicPr>
          <p:cNvPr id="7" name="Image 0" descr="Tree before the chang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5759" y="3465711"/>
            <a:ext cx="2032000" cy="152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32827" y="2790067"/>
            <a:ext cx="2550391" cy="2408012"/>
          </a:xfrm>
          <a:prstGeom prst="roundRect">
            <a:avLst>
              <a:gd name="adj" fmla="val 6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5205" y="2998436"/>
            <a:ext cx="825590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2400" dirty="0"/>
          </a:p>
        </p:txBody>
      </p:sp>
      <p:pic>
        <p:nvPicPr>
          <p:cNvPr id="10" name="Image 1" descr="Tree after the change, one node chang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2023" y="3465711"/>
            <a:ext cx="2032000" cy="1524000"/>
          </a:xfrm>
          <a:prstGeom prst="rect">
            <a:avLst/>
          </a:prstGeom>
        </p:spPr>
      </p:pic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94350" y="3803596"/>
            <a:ext cx="762000" cy="381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970657" y="3036418"/>
            <a:ext cx="2951604" cy="1915310"/>
          </a:xfrm>
          <a:prstGeom prst="roundRect">
            <a:avLst>
              <a:gd name="adj" fmla="val 7460"/>
            </a:avLst>
          </a:prstGeom>
          <a:solidFill>
            <a:srgbClr val="F0F9FF"/>
          </a:solidFill>
          <a:ln w="19050">
            <a:solidFill>
              <a:srgbClr val="087EA4"/>
            </a:solidFill>
            <a:prstDash val="solid"/>
          </a:ln>
        </p:spPr>
      </p:sp>
      <p:pic>
        <p:nvPicPr>
          <p:cNvPr id="13" name="Image 3" descr="Glob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83232" y="3298211"/>
            <a:ext cx="457173" cy="4571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83232" y="3856948"/>
            <a:ext cx="2396248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DOM:</a:t>
            </a:r>
            <a:endParaRPr lang="en-US" sz="2400" dirty="0"/>
          </a:p>
        </p:txBody>
      </p:sp>
      <p:pic>
        <p:nvPicPr>
          <p:cNvPr id="15" name="Image 4" descr="Changed nod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83232" y="4405492"/>
            <a:ext cx="203173" cy="2031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87969" y="4324224"/>
            <a:ext cx="2082369" cy="391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1 node</a:t>
            </a:r>
            <a:endParaRPr lang="en-US" sz="2400" dirty="0"/>
          </a:p>
        </p:txBody>
      </p:sp>
      <p:sp>
        <p:nvSpPr>
          <p:cNvPr id="17" name="Text 10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1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keys matter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782" y="1445211"/>
            <a:ext cx="10883429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keys help React match items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9132" y="2152541"/>
            <a:ext cx="5118127" cy="3271621"/>
          </a:xfrm>
          <a:prstGeom prst="roundRect">
            <a:avLst>
              <a:gd name="adj" fmla="val 4464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327" y="2386301"/>
            <a:ext cx="4737728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✘ key = index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2927" y="2904403"/>
            <a:ext cx="1574800" cy="35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73927" y="2904403"/>
            <a:ext cx="1574800" cy="35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87852" y="3358428"/>
            <a:ext cx="1504950" cy="472714"/>
          </a:xfrm>
          <a:custGeom>
            <a:avLst/>
            <a:gdLst/>
            <a:ahLst/>
            <a:cxnLst/>
            <a:rect l="l" t="t" r="r" b="b"/>
            <a:pathLst>
              <a:path w="1504950" h="472714">
                <a:moveTo>
                  <a:pt x="92075" y="0"/>
                </a:moveTo>
                <a:lnTo>
                  <a:pt x="1412875" y="0"/>
                </a:lnTo>
                <a:arcTo hR="92075" wR="92075" stAng="16200000" swAng="5400000"/>
                <a:lnTo>
                  <a:pt x="1504950" y="380639"/>
                </a:lnTo>
                <a:arcTo hR="92075" wR="92075" stAng="0" swAng="5400000"/>
                <a:lnTo>
                  <a:pt x="92075" y="472714"/>
                </a:lnTo>
                <a:arcTo hR="92075" wR="92075" stAng="5400000" swAng="5400000"/>
                <a:lnTo>
                  <a:pt x="0" y="92075"/>
                </a:lnTo>
                <a:arcTo hR="92075" wR="92075" stAng="10800000" swAng="5400000"/>
                <a:close/>
              </a:path>
            </a:pathLst>
          </a:cu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 wrap="square" lIns="0" tIns="58593" rIns="0" bIns="33193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87852" y="3993428"/>
            <a:ext cx="1504950" cy="472714"/>
          </a:xfrm>
          <a:custGeom>
            <a:avLst/>
            <a:gdLst/>
            <a:ahLst/>
            <a:cxnLst/>
            <a:rect l="l" t="t" r="r" b="b"/>
            <a:pathLst>
              <a:path w="1504950" h="472714">
                <a:moveTo>
                  <a:pt x="92075" y="0"/>
                </a:moveTo>
                <a:lnTo>
                  <a:pt x="1412875" y="0"/>
                </a:lnTo>
                <a:arcTo hR="92075" wR="92075" stAng="16200000" swAng="5400000"/>
                <a:lnTo>
                  <a:pt x="1504950" y="380639"/>
                </a:lnTo>
                <a:arcTo hR="92075" wR="92075" stAng="0" swAng="5400000"/>
                <a:lnTo>
                  <a:pt x="92075" y="472714"/>
                </a:lnTo>
                <a:arcTo hR="92075" wR="92075" stAng="5400000" swAng="5400000"/>
                <a:lnTo>
                  <a:pt x="0" y="92075"/>
                </a:lnTo>
                <a:arcTo hR="92075" wR="92075" stAng="10800000" swAng="5400000"/>
                <a:close/>
              </a:path>
            </a:pathLst>
          </a:cu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 wrap="square" lIns="0" tIns="58593" rIns="0" bIns="33193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87852" y="4628428"/>
            <a:ext cx="1504950" cy="472714"/>
          </a:xfrm>
          <a:custGeom>
            <a:avLst/>
            <a:gdLst/>
            <a:ahLst/>
            <a:cxnLst/>
            <a:rect l="l" t="t" r="r" b="b"/>
            <a:pathLst>
              <a:path w="1504950" h="472714">
                <a:moveTo>
                  <a:pt x="92075" y="0"/>
                </a:moveTo>
                <a:lnTo>
                  <a:pt x="1412875" y="0"/>
                </a:lnTo>
                <a:arcTo hR="92075" wR="92075" stAng="16200000" swAng="5400000"/>
                <a:lnTo>
                  <a:pt x="1504950" y="380639"/>
                </a:lnTo>
                <a:arcTo hR="92075" wR="92075" stAng="0" swAng="5400000"/>
                <a:lnTo>
                  <a:pt x="92075" y="472714"/>
                </a:lnTo>
                <a:arcTo hR="92075" wR="92075" stAng="5400000" swAng="5400000"/>
                <a:lnTo>
                  <a:pt x="0" y="92075"/>
                </a:lnTo>
                <a:arcTo hR="92075" wR="92075" stAng="10800000" swAng="5400000"/>
                <a:close/>
              </a:path>
            </a:pathLst>
          </a:custGeom>
          <a:solidFill>
            <a:srgbClr val="FFFFFF">
              <a:alpha val="50000"/>
            </a:srgbClr>
          </a:solidFill>
          <a:ln w="19050">
            <a:solidFill>
              <a:srgbClr val="DC2626">
                <a:alpha val="50000"/>
              </a:srgbClr>
            </a:solidFill>
            <a:prstDash val="dash"/>
          </a:ln>
        </p:spPr>
        <p:txBody>
          <a:bodyPr wrap="square" lIns="0" tIns="58593" rIns="0" bIns="33193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4748B">
                    <a:alpha val="50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2000" dirty="0">
                <a:solidFill>
                  <a:srgbClr val="0F172A">
                    <a:alpha val="50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b="1" dirty="0">
                <a:solidFill>
                  <a:srgbClr val="0F172A">
                    <a:alpha val="50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08852" y="3358428"/>
            <a:ext cx="1504950" cy="472714"/>
          </a:xfrm>
          <a:custGeom>
            <a:avLst/>
            <a:gdLst/>
            <a:ahLst/>
            <a:cxnLst/>
            <a:rect l="l" t="t" r="r" b="b"/>
            <a:pathLst>
              <a:path w="1504950" h="472714">
                <a:moveTo>
                  <a:pt x="92075" y="0"/>
                </a:moveTo>
                <a:lnTo>
                  <a:pt x="1412875" y="0"/>
                </a:lnTo>
                <a:arcTo hR="92075" wR="92075" stAng="16200000" swAng="5400000"/>
                <a:lnTo>
                  <a:pt x="1504950" y="380639"/>
                </a:lnTo>
                <a:arcTo hR="92075" wR="92075" stAng="0" swAng="5400000"/>
                <a:lnTo>
                  <a:pt x="92075" y="472714"/>
                </a:lnTo>
                <a:arcTo hR="92075" wR="92075" stAng="5400000" swAng="5400000"/>
                <a:lnTo>
                  <a:pt x="0" y="92075"/>
                </a:lnTo>
                <a:arcTo hR="92075" wR="92075" stAng="10800000" swAng="5400000"/>
                <a:close/>
              </a:path>
            </a:pathLst>
          </a:cu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 wrap="square" lIns="0" tIns="58593" rIns="0" bIns="33193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08852" y="3993428"/>
            <a:ext cx="1504950" cy="472714"/>
          </a:xfrm>
          <a:custGeom>
            <a:avLst/>
            <a:gdLst/>
            <a:ahLst/>
            <a:cxnLst/>
            <a:rect l="l" t="t" r="r" b="b"/>
            <a:pathLst>
              <a:path w="1504950" h="472714">
                <a:moveTo>
                  <a:pt x="92075" y="0"/>
                </a:moveTo>
                <a:lnTo>
                  <a:pt x="1412875" y="0"/>
                </a:lnTo>
                <a:arcTo hR="92075" wR="92075" stAng="16200000" swAng="5400000"/>
                <a:lnTo>
                  <a:pt x="1504950" y="380639"/>
                </a:lnTo>
                <a:arcTo hR="92075" wR="92075" stAng="0" swAng="5400000"/>
                <a:lnTo>
                  <a:pt x="92075" y="472714"/>
                </a:lnTo>
                <a:arcTo hR="92075" wR="92075" stAng="5400000" swAng="5400000"/>
                <a:lnTo>
                  <a:pt x="0" y="92075"/>
                </a:lnTo>
                <a:arcTo hR="92075" wR="92075" stAng="10800000" swAng="5400000"/>
                <a:close/>
              </a:path>
            </a:pathLst>
          </a:cu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 wrap="square" lIns="0" tIns="58593" rIns="0" bIns="33193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</a:t>
            </a:r>
            <a:endParaRPr lang="en-US" sz="2000" dirty="0"/>
          </a:p>
        </p:txBody>
      </p:sp>
      <p:pic>
        <p:nvPicPr>
          <p:cNvPr id="1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38827" y="3533043"/>
            <a:ext cx="1524000" cy="127000"/>
          </a:xfrm>
          <a:prstGeom prst="rect">
            <a:avLst/>
          </a:prstGeom>
        </p:spPr>
      </p:pic>
      <p:pic>
        <p:nvPicPr>
          <p:cNvPr id="1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38827" y="4168043"/>
            <a:ext cx="1524000" cy="127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54741" y="2152541"/>
            <a:ext cx="5118127" cy="3271621"/>
          </a:xfrm>
          <a:prstGeom prst="roundRect">
            <a:avLst>
              <a:gd name="adj" fmla="val 4464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13937" y="2386301"/>
            <a:ext cx="4737728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 key = id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488537" y="2904403"/>
            <a:ext cx="1574800" cy="35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9409536" y="2904403"/>
            <a:ext cx="1574800" cy="35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523462" y="3358428"/>
            <a:ext cx="1504950" cy="472714"/>
          </a:xfrm>
          <a:custGeom>
            <a:avLst/>
            <a:gdLst/>
            <a:ahLst/>
            <a:cxnLst/>
            <a:rect l="l" t="t" r="r" b="b"/>
            <a:pathLst>
              <a:path w="1504950" h="472714">
                <a:moveTo>
                  <a:pt x="92075" y="0"/>
                </a:moveTo>
                <a:lnTo>
                  <a:pt x="1412875" y="0"/>
                </a:lnTo>
                <a:arcTo hR="92075" wR="92075" stAng="16200000" swAng="5400000"/>
                <a:lnTo>
                  <a:pt x="1504950" y="380639"/>
                </a:lnTo>
                <a:arcTo hR="92075" wR="92075" stAng="0" swAng="5400000"/>
                <a:lnTo>
                  <a:pt x="92075" y="472714"/>
                </a:lnTo>
                <a:arcTo hR="92075" wR="92075" stAng="5400000" swAng="5400000"/>
                <a:lnTo>
                  <a:pt x="0" y="92075"/>
                </a:lnTo>
                <a:arcTo hR="92075" wR="92075" stAng="10800000" swAng="5400000"/>
                <a:close/>
              </a:path>
            </a:pathLst>
          </a:cu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 wrap="square" lIns="0" tIns="58593" rIns="0" bIns="33193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id1</a:t>
            </a: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523462" y="3993428"/>
            <a:ext cx="1504950" cy="472714"/>
          </a:xfrm>
          <a:custGeom>
            <a:avLst/>
            <a:gdLst/>
            <a:ahLst/>
            <a:cxnLst/>
            <a:rect l="l" t="t" r="r" b="b"/>
            <a:pathLst>
              <a:path w="1504950" h="472714">
                <a:moveTo>
                  <a:pt x="92075" y="0"/>
                </a:moveTo>
                <a:lnTo>
                  <a:pt x="1412875" y="0"/>
                </a:lnTo>
                <a:arcTo hR="92075" wR="92075" stAng="16200000" swAng="5400000"/>
                <a:lnTo>
                  <a:pt x="1504950" y="380639"/>
                </a:lnTo>
                <a:arcTo hR="92075" wR="92075" stAng="0" swAng="5400000"/>
                <a:lnTo>
                  <a:pt x="92075" y="472714"/>
                </a:lnTo>
                <a:arcTo hR="92075" wR="92075" stAng="5400000" swAng="5400000"/>
                <a:lnTo>
                  <a:pt x="0" y="92075"/>
                </a:lnTo>
                <a:arcTo hR="92075" wR="92075" stAng="10800000" swAng="5400000"/>
                <a:close/>
              </a:path>
            </a:pathLst>
          </a:custGeom>
          <a:solidFill>
            <a:srgbClr val="FFFFFF">
              <a:alpha val="45000"/>
            </a:srgbClr>
          </a:solidFill>
          <a:ln w="19050">
            <a:solidFill>
              <a:srgbClr val="94A3B8">
                <a:alpha val="45000"/>
              </a:srgbClr>
            </a:solidFill>
            <a:prstDash val="dash"/>
          </a:ln>
        </p:spPr>
        <p:txBody>
          <a:bodyPr wrap="square" lIns="0" tIns="58593" rIns="0" bIns="33193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4748B">
                    <a:alpha val="45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id2</a:t>
            </a:r>
            <a:r>
              <a:rPr lang="en-US" sz="2000" dirty="0">
                <a:solidFill>
                  <a:srgbClr val="0F172A">
                    <a:alpha val="45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b="1" dirty="0">
                <a:solidFill>
                  <a:srgbClr val="0F172A">
                    <a:alpha val="45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523462" y="4628428"/>
            <a:ext cx="1504950" cy="472714"/>
          </a:xfrm>
          <a:custGeom>
            <a:avLst/>
            <a:gdLst/>
            <a:ahLst/>
            <a:cxnLst/>
            <a:rect l="l" t="t" r="r" b="b"/>
            <a:pathLst>
              <a:path w="1504950" h="472714">
                <a:moveTo>
                  <a:pt x="92075" y="0"/>
                </a:moveTo>
                <a:lnTo>
                  <a:pt x="1412875" y="0"/>
                </a:lnTo>
                <a:arcTo hR="92075" wR="92075" stAng="16200000" swAng="5400000"/>
                <a:lnTo>
                  <a:pt x="1504950" y="380639"/>
                </a:lnTo>
                <a:arcTo hR="92075" wR="92075" stAng="0" swAng="5400000"/>
                <a:lnTo>
                  <a:pt x="92075" y="472714"/>
                </a:lnTo>
                <a:arcTo hR="92075" wR="92075" stAng="5400000" swAng="5400000"/>
                <a:lnTo>
                  <a:pt x="0" y="92075"/>
                </a:lnTo>
                <a:arcTo hR="92075" wR="92075" stAng="10800000" swAng="5400000"/>
                <a:close/>
              </a:path>
            </a:pathLst>
          </a:cu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 wrap="square" lIns="0" tIns="58593" rIns="0" bIns="33193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id3</a:t>
            </a: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444461" y="3358428"/>
            <a:ext cx="1504950" cy="472714"/>
          </a:xfrm>
          <a:custGeom>
            <a:avLst/>
            <a:gdLst/>
            <a:ahLst/>
            <a:cxnLst/>
            <a:rect l="l" t="t" r="r" b="b"/>
            <a:pathLst>
              <a:path w="1504950" h="472714">
                <a:moveTo>
                  <a:pt x="92075" y="0"/>
                </a:moveTo>
                <a:lnTo>
                  <a:pt x="1412875" y="0"/>
                </a:lnTo>
                <a:arcTo hR="92075" wR="92075" stAng="16200000" swAng="5400000"/>
                <a:lnTo>
                  <a:pt x="1504950" y="380639"/>
                </a:lnTo>
                <a:arcTo hR="92075" wR="92075" stAng="0" swAng="5400000"/>
                <a:lnTo>
                  <a:pt x="92075" y="472714"/>
                </a:lnTo>
                <a:arcTo hR="92075" wR="92075" stAng="5400000" swAng="5400000"/>
                <a:lnTo>
                  <a:pt x="0" y="92075"/>
                </a:lnTo>
                <a:arcTo hR="92075" wR="92075" stAng="10800000" swAng="5400000"/>
                <a:close/>
              </a:path>
            </a:pathLst>
          </a:cu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 wrap="square" lIns="0" tIns="58593" rIns="0" bIns="33193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id1</a:t>
            </a: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9444461" y="3993428"/>
            <a:ext cx="1504950" cy="472714"/>
          </a:xfrm>
          <a:custGeom>
            <a:avLst/>
            <a:gdLst/>
            <a:ahLst/>
            <a:cxnLst/>
            <a:rect l="l" t="t" r="r" b="b"/>
            <a:pathLst>
              <a:path w="1504950" h="472714">
                <a:moveTo>
                  <a:pt x="92075" y="0"/>
                </a:moveTo>
                <a:lnTo>
                  <a:pt x="1412875" y="0"/>
                </a:lnTo>
                <a:arcTo hR="92075" wR="92075" stAng="16200000" swAng="5400000"/>
                <a:lnTo>
                  <a:pt x="1504950" y="380639"/>
                </a:lnTo>
                <a:arcTo hR="92075" wR="92075" stAng="0" swAng="5400000"/>
                <a:lnTo>
                  <a:pt x="92075" y="472714"/>
                </a:lnTo>
                <a:arcTo hR="92075" wR="92075" stAng="5400000" swAng="5400000"/>
                <a:lnTo>
                  <a:pt x="0" y="92075"/>
                </a:lnTo>
                <a:arcTo hR="92075" wR="92075" stAng="10800000" swAng="5400000"/>
                <a:close/>
              </a:path>
            </a:pathLst>
          </a:cu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 wrap="square" lIns="0" tIns="58593" rIns="0" bIns="33193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id3</a:t>
            </a:r>
            <a:r>
              <a:rPr lang="en-US" sz="20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0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</a:t>
            </a:r>
            <a:endParaRPr lang="en-US" sz="2000" dirty="0"/>
          </a:p>
        </p:txBody>
      </p:sp>
      <p:pic>
        <p:nvPicPr>
          <p:cNvPr id="2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74437" y="3533043"/>
            <a:ext cx="1524000" cy="127000"/>
          </a:xfrm>
          <a:prstGeom prst="rect">
            <a:avLst/>
          </a:prstGeom>
        </p:spPr>
      </p:pic>
      <p:pic>
        <p:nvPicPr>
          <p:cNvPr id="26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74437" y="4168043"/>
            <a:ext cx="1524000" cy="7620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58418" y="6238287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1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component's life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917700" y="2806698"/>
            <a:ext cx="1244600" cy="1244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87EA4"/>
            </a:solidFill>
            <a:prstDash val="solid"/>
          </a:ln>
        </p:spPr>
      </p:sp>
      <p:pic>
        <p:nvPicPr>
          <p:cNvPr id="5" name="Image 0" descr="Appea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35218" y="3124217"/>
            <a:ext cx="609564" cy="6095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73700" y="2806698"/>
            <a:ext cx="1244600" cy="1244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87EA4"/>
            </a:solidFill>
            <a:prstDash val="solid"/>
          </a:ln>
        </p:spPr>
      </p:sp>
      <p:pic>
        <p:nvPicPr>
          <p:cNvPr id="7" name="Image 1" descr="Refreshe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91218" y="3124217"/>
            <a:ext cx="609564" cy="6095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29700" y="2806698"/>
            <a:ext cx="1244600" cy="1244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87EA4"/>
            </a:solidFill>
            <a:prstDash val="dash"/>
          </a:ln>
        </p:spPr>
      </p:sp>
      <p:pic>
        <p:nvPicPr>
          <p:cNvPr id="9" name="Image 2" descr="Disappea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47218" y="3124217"/>
            <a:ext cx="609564" cy="609564"/>
          </a:xfrm>
          <a:prstGeom prst="rect">
            <a:avLst/>
          </a:prstGeom>
        </p:spPr>
      </p:pic>
      <p:pic>
        <p:nvPicPr>
          <p:cNvPr id="1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02000" y="3365498"/>
            <a:ext cx="2032000" cy="127000"/>
          </a:xfrm>
          <a:prstGeom prst="rect">
            <a:avLst/>
          </a:prstGeom>
        </p:spPr>
      </p:pic>
      <p:pic>
        <p:nvPicPr>
          <p:cNvPr id="1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58000" y="3365498"/>
            <a:ext cx="2032000" cy="127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31900" y="4292563"/>
            <a:ext cx="2616200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Mount</a:t>
            </a:r>
            <a:endParaRPr lang="en-US" sz="2600" dirty="0"/>
          </a:p>
        </p:txBody>
      </p:sp>
      <p:sp>
        <p:nvSpPr>
          <p:cNvPr id="13" name="Text 6"/>
          <p:cNvSpPr/>
          <p:nvPr/>
        </p:nvSpPr>
        <p:spPr>
          <a:xfrm>
            <a:off x="4787900" y="4292563"/>
            <a:ext cx="2616200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</a:t>
            </a:r>
            <a:endParaRPr lang="en-US" sz="2600" dirty="0"/>
          </a:p>
        </p:txBody>
      </p:sp>
      <p:sp>
        <p:nvSpPr>
          <p:cNvPr id="14" name="Text 7"/>
          <p:cNvSpPr/>
          <p:nvPr/>
        </p:nvSpPr>
        <p:spPr>
          <a:xfrm>
            <a:off x="8343900" y="4292563"/>
            <a:ext cx="2616200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Unmount</a:t>
            </a:r>
            <a:endParaRPr lang="en-US" sz="2600" dirty="0"/>
          </a:p>
        </p:txBody>
      </p:sp>
      <p:sp>
        <p:nvSpPr>
          <p:cNvPr id="15" name="Text 8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1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 effects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782" y="1445211"/>
            <a:ext cx="10883429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that reaches outside the component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9132" y="2967893"/>
            <a:ext cx="2400300" cy="2052403"/>
          </a:xfrm>
          <a:prstGeom prst="roundRect">
            <a:avLst>
              <a:gd name="adj" fmla="val 7116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38282" y="3328653"/>
            <a:ext cx="762000" cy="76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5261" y="4293825"/>
            <a:ext cx="1027996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536914" y="2967893"/>
            <a:ext cx="2400345" cy="2052403"/>
          </a:xfrm>
          <a:prstGeom prst="roundRect">
            <a:avLst>
              <a:gd name="adj" fmla="val 7116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56064" y="3328653"/>
            <a:ext cx="762000" cy="762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31186" y="4293825"/>
            <a:ext cx="1411757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 title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6254741" y="2967893"/>
            <a:ext cx="2400300" cy="2052403"/>
          </a:xfrm>
          <a:prstGeom prst="roundRect">
            <a:avLst>
              <a:gd name="adj" fmla="val 7116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73891" y="3328653"/>
            <a:ext cx="762000" cy="762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3300" y="4293825"/>
            <a:ext cx="1383182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8972523" y="2967893"/>
            <a:ext cx="2400345" cy="2052403"/>
          </a:xfrm>
          <a:prstGeom prst="roundRect">
            <a:avLst>
              <a:gd name="adj" fmla="val 7116"/>
            </a:avLst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Clou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91673" y="3328653"/>
            <a:ext cx="762000" cy="762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871011" y="4293825"/>
            <a:ext cx="603322" cy="39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2400" dirty="0"/>
          </a:p>
        </p:txBody>
      </p:sp>
      <p:sp>
        <p:nvSpPr>
          <p:cNvPr id="17" name="Text 11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1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useEffect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782" y="1699211"/>
            <a:ext cx="8861542" cy="1723249"/>
          </a:xfrm>
          <a:prstGeom prst="roundRect">
            <a:avLst>
              <a:gd name="adj" fmla="val 737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104269" y="1953211"/>
            <a:ext cx="8460926" cy="430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useEffect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(() =&gt; {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346" y="2358293"/>
            <a:ext cx="8404414" cy="405083"/>
          </a:xfrm>
          <a:prstGeom prst="rect">
            <a:avLst/>
          </a:prstGeom>
          <a:solidFill>
            <a:srgbClr val="087EA4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396" y="2358293"/>
            <a:ext cx="0" cy="405083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4269" y="2358293"/>
            <a:ext cx="8460926" cy="430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document.title = </a:t>
            </a:r>
            <a:r>
              <a:rPr lang="en-US" sz="22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'Clicked '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+ count + </a:t>
            </a:r>
            <a:r>
              <a:rPr lang="en-US" sz="2200" dirty="0">
                <a:solidFill>
                  <a:srgbClr val="C3E88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 times'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04269" y="2763376"/>
            <a:ext cx="8460926" cy="430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}, [count]);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782" y="3778024"/>
            <a:ext cx="10883429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this after rendering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1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dependency array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782" y="2246393"/>
            <a:ext cx="1056643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82" y="3244820"/>
            <a:ext cx="1056643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64" y="2530977"/>
            <a:ext cx="4970780" cy="454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useEffect(</a:t>
            </a:r>
            <a:r>
              <a:rPr lang="en-US" sz="26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fn</a:t>
            </a:r>
            <a:r>
              <a:rPr lang="en-US" sz="26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89564" y="2530977"/>
            <a:ext cx="812800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51564" y="2530977"/>
            <a:ext cx="5023178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</a:t>
            </a: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</a:t>
            </a: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render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12782" y="4244406"/>
            <a:ext cx="1056643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564" y="3530563"/>
            <a:ext cx="4970780" cy="454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useEffect(</a:t>
            </a:r>
            <a:r>
              <a:rPr lang="en-US" sz="26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fn</a:t>
            </a:r>
            <a:r>
              <a:rPr lang="en-US" sz="2600" b="1" dirty="0">
                <a:solidFill>
                  <a:srgbClr val="087E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[]</a:t>
            </a:r>
            <a:r>
              <a:rPr lang="en-US" sz="26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89564" y="3530563"/>
            <a:ext cx="812800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51564" y="3530563"/>
            <a:ext cx="5023178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</a:t>
            </a: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on mount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12782" y="5243988"/>
            <a:ext cx="1056643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564" y="4530145"/>
            <a:ext cx="4970780" cy="454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useEffect(</a:t>
            </a:r>
            <a:r>
              <a:rPr lang="en-US" sz="2600" dirty="0">
                <a:solidFill>
                  <a:srgbClr val="64748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fn</a:t>
            </a:r>
            <a:r>
              <a:rPr lang="en-US" sz="2600" b="1" dirty="0">
                <a:solidFill>
                  <a:srgbClr val="087E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[x]</a:t>
            </a:r>
            <a:r>
              <a:rPr lang="en-US" sz="2600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689564" y="4530145"/>
            <a:ext cx="812800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51564" y="4530145"/>
            <a:ext cx="5023178" cy="454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</a:t>
            </a: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r>
              <a:rPr 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changes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6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4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Cleanup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2782" y="1699214"/>
            <a:ext cx="6849882" cy="2128332"/>
          </a:xfrm>
          <a:prstGeom prst="roundRect">
            <a:avLst>
              <a:gd name="adj" fmla="val 5967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104269" y="1953214"/>
            <a:ext cx="6388916" cy="430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useEffect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(() =&gt; {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4269" y="2358296"/>
            <a:ext cx="6388916" cy="430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id = </a:t>
            </a: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setInterval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(tick, </a:t>
            </a:r>
            <a:r>
              <a:rPr lang="en-US" sz="2200" dirty="0">
                <a:solidFill>
                  <a:srgbClr val="F78C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1000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346" y="2763379"/>
            <a:ext cx="6392754" cy="405083"/>
          </a:xfrm>
          <a:prstGeom prst="rect">
            <a:avLst/>
          </a:prstGeom>
          <a:solidFill>
            <a:srgbClr val="087EA4">
              <a:alpha val="28000"/>
            </a:srgbClr>
          </a:solidFill>
          <a:ln/>
        </p:spPr>
        <p:txBody>
          <a:bodyPr wrap="none" lIns="189923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2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() =&gt; </a:t>
            </a: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clearInterval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(id);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33396" y="2763379"/>
            <a:ext cx="0" cy="405083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269" y="3168461"/>
            <a:ext cx="6388916" cy="430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}, []);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782" y="4183109"/>
            <a:ext cx="10883429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up before you leave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18" y="6238289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1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traps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307" y="2304951"/>
            <a:ext cx="5111777" cy="2880528"/>
          </a:xfrm>
          <a:prstGeom prst="roundRect">
            <a:avLst>
              <a:gd name="adj" fmla="val 5842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5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5664" y="2668308"/>
            <a:ext cx="609564" cy="6095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5664" y="3455653"/>
            <a:ext cx="4516614" cy="421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Infinite loop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85664" y="4029677"/>
            <a:ext cx="4516614" cy="81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setState in an effect with no array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257916" y="2304951"/>
            <a:ext cx="5111777" cy="2880528"/>
          </a:xfrm>
          <a:prstGeom prst="roundRect">
            <a:avLst>
              <a:gd name="adj" fmla="val 5842"/>
            </a:avLst>
          </a:prstGeom>
          <a:solidFill>
            <a:srgbClr val="F0F9FF"/>
          </a:solidFill>
          <a:ln w="19050">
            <a:solidFill>
              <a:srgbClr val="087EA4"/>
            </a:solidFill>
            <a:prstDash val="solid"/>
          </a:ln>
        </p:spPr>
      </p:sp>
      <p:pic>
        <p:nvPicPr>
          <p:cNvPr id="9" name="Image 1" descr="Inf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273" y="2668308"/>
            <a:ext cx="609564" cy="6095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1273" y="3455653"/>
            <a:ext cx="4516614" cy="817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twice in development?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621273" y="4425919"/>
            <a:ext cx="4516614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That's StrictMode. Normal.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1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useRef </a:t>
            </a:r>
            <a:r>
              <a:rPr lang="en-US" sz="3800" b="1" i="0" spc="-5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(concept)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782" y="1445208"/>
            <a:ext cx="10883429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box that survives renders and doesn't cause them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782" y="2247801"/>
            <a:ext cx="5676395" cy="1723249"/>
          </a:xfrm>
          <a:prstGeom prst="roundRect">
            <a:avLst>
              <a:gd name="adj" fmla="val 737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346" y="2501801"/>
            <a:ext cx="5219267" cy="405083"/>
          </a:xfrm>
          <a:prstGeom prst="rect">
            <a:avLst/>
          </a:prstGeom>
          <a:solidFill>
            <a:srgbClr val="087EA4">
              <a:alpha val="2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inputRef = </a:t>
            </a: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useRef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2200" dirty="0">
                <a:solidFill>
                  <a:srgbClr val="C792E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null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33396" y="2501801"/>
            <a:ext cx="0" cy="405083"/>
          </a:xfrm>
          <a:prstGeom prst="line">
            <a:avLst/>
          </a:prstGeom>
          <a:noFill/>
          <a:ln w="38100">
            <a:solidFill>
              <a:srgbClr val="08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4269" y="2906880"/>
            <a:ext cx="5180224" cy="430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</a:t>
            </a:r>
            <a:r>
              <a:rPr lang="en-US" sz="2200" dirty="0">
                <a:solidFill>
                  <a:srgbClr val="F0717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input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2200" dirty="0">
                <a:solidFill>
                  <a:srgbClr val="FFC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ref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={inputRef} /&gt;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04269" y="3311965"/>
            <a:ext cx="5180224" cy="430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inputRef.current.</a:t>
            </a:r>
            <a:r>
              <a:rPr lang="en-US" sz="2200" dirty="0">
                <a:solidFill>
                  <a:srgbClr val="82AA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focus</a:t>
            </a:r>
            <a:r>
              <a:rPr lang="en-US" sz="22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();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35556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87E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Lecture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812781"/>
            <a:ext cx="10883429" cy="55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i="0" spc="-50" kern="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Homework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307" y="1657952"/>
            <a:ext cx="6834034" cy="3293278"/>
          </a:xfrm>
          <a:prstGeom prst="roundRect">
            <a:avLst>
              <a:gd name="adj" fmla="val 5881"/>
            </a:avLst>
          </a:prstGeom>
          <a:solidFill>
            <a:srgbClr val="F0F9FF"/>
          </a:solidFill>
          <a:ln w="19050">
            <a:solidFill>
              <a:srgbClr val="087E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6491" y="2656408"/>
            <a:ext cx="5954884" cy="0"/>
          </a:xfrm>
          <a:prstGeom prst="line">
            <a:avLst/>
          </a:prstGeom>
          <a:noFill/>
          <a:ln w="12700">
            <a:solidFill>
              <a:srgbClr val="BAE6FD"/>
            </a:solidFill>
            <a:prstDash val="solid"/>
          </a:ln>
        </p:spPr>
      </p:sp>
      <p:pic>
        <p:nvPicPr>
          <p:cNvPr id="6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6491" y="2031454"/>
            <a:ext cx="406391" cy="4063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95273" y="2021309"/>
            <a:ext cx="3283527" cy="45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Effects practice</a:t>
            </a:r>
            <a:endParaRPr lang="en-US" sz="2800" dirty="0"/>
          </a:p>
        </p:txBody>
      </p:sp>
      <p:pic>
        <p:nvPicPr>
          <p:cNvPr id="8" name="Image 1" descr="Checkbox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36491" y="2911618"/>
            <a:ext cx="355564" cy="3555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69837" y="2891321"/>
            <a:ext cx="5876979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shopping list to localStorage</a:t>
            </a:r>
            <a:endParaRPr lang="en-US" sz="2400" dirty="0"/>
          </a:p>
        </p:txBody>
      </p:sp>
      <p:pic>
        <p:nvPicPr>
          <p:cNvPr id="10" name="Image 2" descr="Checkbox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36491" y="3536379"/>
            <a:ext cx="355564" cy="3555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69837" y="3516083"/>
            <a:ext cx="4517015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 width component</a:t>
            </a:r>
            <a:endParaRPr lang="en-US" sz="2400" dirty="0"/>
          </a:p>
        </p:txBody>
      </p:sp>
      <p:pic>
        <p:nvPicPr>
          <p:cNvPr id="12" name="Image 3" descr="Checkbox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36491" y="4161141"/>
            <a:ext cx="355564" cy="3555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69837" y="4140845"/>
            <a:ext cx="4328084" cy="421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Resize listener + cleanup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10058418" y="62382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ct Lecture 4 — Rendering &amp; Effects">
  <a:themeElements>
    <a:clrScheme name="React Lecture 4 — Rendering &amp; Effects">
      <a:dk1>
        <a:srgbClr val="0F172A"/>
      </a:dk1>
      <a:lt1>
        <a:srgbClr val="FFFFFF"/>
      </a:lt1>
      <a:dk2>
        <a:srgbClr val="4B515F"/>
      </a:dk2>
      <a:lt2>
        <a:srgbClr val="E7E8EA"/>
      </a:lt2>
      <a:accent1>
        <a:srgbClr val="64748B"/>
      </a:accent1>
      <a:accent2>
        <a:srgbClr val="087EA4"/>
      </a:accent2>
      <a:accent3>
        <a:srgbClr val="DC2626"/>
      </a:accent3>
      <a:accent4>
        <a:srgbClr val="16A34A"/>
      </a:accent4>
      <a:accent5>
        <a:srgbClr val="E2E8F0"/>
      </a:accent5>
      <a:accent6>
        <a:srgbClr val="334155"/>
      </a:accent6>
      <a:hlink>
        <a:srgbClr val="0563C1"/>
      </a:hlink>
      <a:folHlink>
        <a:srgbClr val="954F72"/>
      </a:folHlink>
    </a:clrScheme>
    <a:fontScheme name="React Lecture 4 — Rendering &amp; Effects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Lecture 4 — Rendering &amp; Effects</dc:title>
  <dc:subject/>
  <dc:creator/>
  <cp:lastModifiedBy/>
  <cp:revision>1</cp:revision>
  <dcterms:created xsi:type="dcterms:W3CDTF">2026-10-07T14:47:15Z</dcterms:created>
  <dcterms:modified xsi:type="dcterms:W3CDTF">2026-10-07T14:47:15Z</dcterms:modified>
</cp:coreProperties>
</file>