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63" r:id="rId4"/>
    <p:sldId id="262" r:id="rId5"/>
    <p:sldId id="260" r:id="rId6"/>
    <p:sldId id="259" r:id="rId7"/>
    <p:sldId id="258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36"/>
  </p:normalViewPr>
  <p:slideViewPr>
    <p:cSldViewPr snapToGrid="0">
      <p:cViewPr>
        <p:scale>
          <a:sx n="134" d="100"/>
          <a:sy n="134" d="100"/>
        </p:scale>
        <p:origin x="-6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F441E8-69A2-41AB-92B9-2A9612DF3212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F990E32-CFBE-420D-9443-C9F8CD1F41A5}">
      <dgm:prSet/>
      <dgm:spPr/>
      <dgm:t>
        <a:bodyPr/>
        <a:lstStyle/>
        <a:p>
          <a:r>
            <a:rPr lang="en-US"/>
            <a:t>Git</a:t>
          </a:r>
        </a:p>
      </dgm:t>
    </dgm:pt>
    <dgm:pt modelId="{DBA57505-AB9E-4084-BDD3-C9B8738A6876}" type="parTrans" cxnId="{556932EC-CAC2-4BBA-B0EB-C843C97B14B6}">
      <dgm:prSet/>
      <dgm:spPr/>
      <dgm:t>
        <a:bodyPr/>
        <a:lstStyle/>
        <a:p>
          <a:endParaRPr lang="en-US"/>
        </a:p>
      </dgm:t>
    </dgm:pt>
    <dgm:pt modelId="{3301FD7A-8676-43FE-B726-D8B535378894}" type="sibTrans" cxnId="{556932EC-CAC2-4BBA-B0EB-C843C97B14B6}">
      <dgm:prSet/>
      <dgm:spPr/>
      <dgm:t>
        <a:bodyPr/>
        <a:lstStyle/>
        <a:p>
          <a:endParaRPr lang="en-US"/>
        </a:p>
      </dgm:t>
    </dgm:pt>
    <dgm:pt modelId="{B27ADC95-CFBF-4B82-80D3-AA0A5A82F662}">
      <dgm:prSet/>
      <dgm:spPr/>
      <dgm:t>
        <a:bodyPr/>
        <a:lstStyle/>
        <a:p>
          <a:r>
            <a:rPr lang="en-US" dirty="0"/>
            <a:t>Visual Studio / Any code editor</a:t>
          </a:r>
        </a:p>
      </dgm:t>
    </dgm:pt>
    <dgm:pt modelId="{37039632-AE51-4E5F-A42C-90FA674DD65B}" type="parTrans" cxnId="{7FF3E830-BB06-4FA1-913C-3EB0C512CA5E}">
      <dgm:prSet/>
      <dgm:spPr/>
      <dgm:t>
        <a:bodyPr/>
        <a:lstStyle/>
        <a:p>
          <a:endParaRPr lang="en-US"/>
        </a:p>
      </dgm:t>
    </dgm:pt>
    <dgm:pt modelId="{16E9291B-C440-465B-A985-FB49342589A9}" type="sibTrans" cxnId="{7FF3E830-BB06-4FA1-913C-3EB0C512CA5E}">
      <dgm:prSet/>
      <dgm:spPr/>
      <dgm:t>
        <a:bodyPr/>
        <a:lstStyle/>
        <a:p>
          <a:endParaRPr lang="en-US"/>
        </a:p>
      </dgm:t>
    </dgm:pt>
    <dgm:pt modelId="{12158244-EB81-44FE-A924-020A40F65785}">
      <dgm:prSet/>
      <dgm:spPr/>
      <dgm:t>
        <a:bodyPr/>
        <a:lstStyle/>
        <a:p>
          <a:r>
            <a:rPr lang="en-US"/>
            <a:t>NodeJs</a:t>
          </a:r>
        </a:p>
      </dgm:t>
    </dgm:pt>
    <dgm:pt modelId="{125206B2-CEB5-4FB1-B7F6-E79A8C149812}" type="parTrans" cxnId="{9FF12240-8252-44A5-AEB8-9E04159FA07F}">
      <dgm:prSet/>
      <dgm:spPr/>
      <dgm:t>
        <a:bodyPr/>
        <a:lstStyle/>
        <a:p>
          <a:endParaRPr lang="en-US"/>
        </a:p>
      </dgm:t>
    </dgm:pt>
    <dgm:pt modelId="{28C48A2B-4577-4CCE-B1FD-937BE3DC99DD}" type="sibTrans" cxnId="{9FF12240-8252-44A5-AEB8-9E04159FA07F}">
      <dgm:prSet/>
      <dgm:spPr/>
      <dgm:t>
        <a:bodyPr/>
        <a:lstStyle/>
        <a:p>
          <a:endParaRPr lang="en-US"/>
        </a:p>
      </dgm:t>
    </dgm:pt>
    <dgm:pt modelId="{5D3D0C52-3E8B-3543-ABF7-78D6A1F6CDE6}" type="pres">
      <dgm:prSet presAssocID="{5AF441E8-69A2-41AB-92B9-2A9612DF32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CB7EFDD-8319-2E4A-9334-8C87752F3243}" type="pres">
      <dgm:prSet presAssocID="{2F990E32-CFBE-420D-9443-C9F8CD1F41A5}" presName="hierRoot1" presStyleCnt="0"/>
      <dgm:spPr/>
    </dgm:pt>
    <dgm:pt modelId="{E9B6FED6-D20F-2F4F-B176-AC79C5968341}" type="pres">
      <dgm:prSet presAssocID="{2F990E32-CFBE-420D-9443-C9F8CD1F41A5}" presName="composite" presStyleCnt="0"/>
      <dgm:spPr/>
    </dgm:pt>
    <dgm:pt modelId="{0DB84F04-EE27-0540-8672-1CD1C648B69B}" type="pres">
      <dgm:prSet presAssocID="{2F990E32-CFBE-420D-9443-C9F8CD1F41A5}" presName="background" presStyleLbl="node0" presStyleIdx="0" presStyleCnt="3"/>
      <dgm:spPr/>
    </dgm:pt>
    <dgm:pt modelId="{BD2CD94F-7833-4345-9FC3-7598FADF6038}" type="pres">
      <dgm:prSet presAssocID="{2F990E32-CFBE-420D-9443-C9F8CD1F41A5}" presName="text" presStyleLbl="fgAcc0" presStyleIdx="0" presStyleCnt="3">
        <dgm:presLayoutVars>
          <dgm:chPref val="3"/>
        </dgm:presLayoutVars>
      </dgm:prSet>
      <dgm:spPr/>
    </dgm:pt>
    <dgm:pt modelId="{14CD7DF7-2E3A-2842-9592-29E6BE1BE080}" type="pres">
      <dgm:prSet presAssocID="{2F990E32-CFBE-420D-9443-C9F8CD1F41A5}" presName="hierChild2" presStyleCnt="0"/>
      <dgm:spPr/>
    </dgm:pt>
    <dgm:pt modelId="{19D1852A-E273-6F41-9718-4C4B209F3B74}" type="pres">
      <dgm:prSet presAssocID="{B27ADC95-CFBF-4B82-80D3-AA0A5A82F662}" presName="hierRoot1" presStyleCnt="0"/>
      <dgm:spPr/>
    </dgm:pt>
    <dgm:pt modelId="{213DB85A-EA12-1346-9459-C9BE3EBCC278}" type="pres">
      <dgm:prSet presAssocID="{B27ADC95-CFBF-4B82-80D3-AA0A5A82F662}" presName="composite" presStyleCnt="0"/>
      <dgm:spPr/>
    </dgm:pt>
    <dgm:pt modelId="{897534FB-FDA0-7B49-ADCC-B10F0C840355}" type="pres">
      <dgm:prSet presAssocID="{B27ADC95-CFBF-4B82-80D3-AA0A5A82F662}" presName="background" presStyleLbl="node0" presStyleIdx="1" presStyleCnt="3"/>
      <dgm:spPr/>
    </dgm:pt>
    <dgm:pt modelId="{2B240F02-E262-8D40-8C4B-45A06F2D2564}" type="pres">
      <dgm:prSet presAssocID="{B27ADC95-CFBF-4B82-80D3-AA0A5A82F662}" presName="text" presStyleLbl="fgAcc0" presStyleIdx="1" presStyleCnt="3">
        <dgm:presLayoutVars>
          <dgm:chPref val="3"/>
        </dgm:presLayoutVars>
      </dgm:prSet>
      <dgm:spPr/>
    </dgm:pt>
    <dgm:pt modelId="{C338B99B-4A5B-AA41-AAF3-89B8BB8C3365}" type="pres">
      <dgm:prSet presAssocID="{B27ADC95-CFBF-4B82-80D3-AA0A5A82F662}" presName="hierChild2" presStyleCnt="0"/>
      <dgm:spPr/>
    </dgm:pt>
    <dgm:pt modelId="{8A58C8B6-A4AE-724C-BFA2-22F2904972E0}" type="pres">
      <dgm:prSet presAssocID="{12158244-EB81-44FE-A924-020A40F65785}" presName="hierRoot1" presStyleCnt="0"/>
      <dgm:spPr/>
    </dgm:pt>
    <dgm:pt modelId="{E0E8FA69-D48D-7E46-B075-5A88E85403A3}" type="pres">
      <dgm:prSet presAssocID="{12158244-EB81-44FE-A924-020A40F65785}" presName="composite" presStyleCnt="0"/>
      <dgm:spPr/>
    </dgm:pt>
    <dgm:pt modelId="{B21F9CBE-CCCE-9A4E-BB90-67BD3CEAD7D9}" type="pres">
      <dgm:prSet presAssocID="{12158244-EB81-44FE-A924-020A40F65785}" presName="background" presStyleLbl="node0" presStyleIdx="2" presStyleCnt="3"/>
      <dgm:spPr/>
    </dgm:pt>
    <dgm:pt modelId="{29923E25-ED5F-6149-B838-67C431A5AEA2}" type="pres">
      <dgm:prSet presAssocID="{12158244-EB81-44FE-A924-020A40F65785}" presName="text" presStyleLbl="fgAcc0" presStyleIdx="2" presStyleCnt="3">
        <dgm:presLayoutVars>
          <dgm:chPref val="3"/>
        </dgm:presLayoutVars>
      </dgm:prSet>
      <dgm:spPr/>
    </dgm:pt>
    <dgm:pt modelId="{0F5DE594-FDC7-A248-9C96-7B16C30CF4C0}" type="pres">
      <dgm:prSet presAssocID="{12158244-EB81-44FE-A924-020A40F65785}" presName="hierChild2" presStyleCnt="0"/>
      <dgm:spPr/>
    </dgm:pt>
  </dgm:ptLst>
  <dgm:cxnLst>
    <dgm:cxn modelId="{B4574606-8EC3-144E-B2E6-BD903681C217}" type="presOf" srcId="{B27ADC95-CFBF-4B82-80D3-AA0A5A82F662}" destId="{2B240F02-E262-8D40-8C4B-45A06F2D2564}" srcOrd="0" destOrd="0" presId="urn:microsoft.com/office/officeart/2005/8/layout/hierarchy1"/>
    <dgm:cxn modelId="{7FF3E830-BB06-4FA1-913C-3EB0C512CA5E}" srcId="{5AF441E8-69A2-41AB-92B9-2A9612DF3212}" destId="{B27ADC95-CFBF-4B82-80D3-AA0A5A82F662}" srcOrd="1" destOrd="0" parTransId="{37039632-AE51-4E5F-A42C-90FA674DD65B}" sibTransId="{16E9291B-C440-465B-A985-FB49342589A9}"/>
    <dgm:cxn modelId="{9FF12240-8252-44A5-AEB8-9E04159FA07F}" srcId="{5AF441E8-69A2-41AB-92B9-2A9612DF3212}" destId="{12158244-EB81-44FE-A924-020A40F65785}" srcOrd="2" destOrd="0" parTransId="{125206B2-CEB5-4FB1-B7F6-E79A8C149812}" sibTransId="{28C48A2B-4577-4CCE-B1FD-937BE3DC99DD}"/>
    <dgm:cxn modelId="{7CD788A9-0672-1B49-AA8B-3B8A3EFE11DF}" type="presOf" srcId="{12158244-EB81-44FE-A924-020A40F65785}" destId="{29923E25-ED5F-6149-B838-67C431A5AEA2}" srcOrd="0" destOrd="0" presId="urn:microsoft.com/office/officeart/2005/8/layout/hierarchy1"/>
    <dgm:cxn modelId="{C2707EB1-388C-9240-A38D-EEEAB3749817}" type="presOf" srcId="{5AF441E8-69A2-41AB-92B9-2A9612DF3212}" destId="{5D3D0C52-3E8B-3543-ABF7-78D6A1F6CDE6}" srcOrd="0" destOrd="0" presId="urn:microsoft.com/office/officeart/2005/8/layout/hierarchy1"/>
    <dgm:cxn modelId="{7CE811E2-F8C3-1D44-AB06-0BDCE40AC06E}" type="presOf" srcId="{2F990E32-CFBE-420D-9443-C9F8CD1F41A5}" destId="{BD2CD94F-7833-4345-9FC3-7598FADF6038}" srcOrd="0" destOrd="0" presId="urn:microsoft.com/office/officeart/2005/8/layout/hierarchy1"/>
    <dgm:cxn modelId="{556932EC-CAC2-4BBA-B0EB-C843C97B14B6}" srcId="{5AF441E8-69A2-41AB-92B9-2A9612DF3212}" destId="{2F990E32-CFBE-420D-9443-C9F8CD1F41A5}" srcOrd="0" destOrd="0" parTransId="{DBA57505-AB9E-4084-BDD3-C9B8738A6876}" sibTransId="{3301FD7A-8676-43FE-B726-D8B535378894}"/>
    <dgm:cxn modelId="{AB31FDEB-A503-AD4C-8BA4-06318DC1E523}" type="presParOf" srcId="{5D3D0C52-3E8B-3543-ABF7-78D6A1F6CDE6}" destId="{4CB7EFDD-8319-2E4A-9334-8C87752F3243}" srcOrd="0" destOrd="0" presId="urn:microsoft.com/office/officeart/2005/8/layout/hierarchy1"/>
    <dgm:cxn modelId="{02E7F8BC-C0AF-B74E-B2EC-6D1FB082F8E6}" type="presParOf" srcId="{4CB7EFDD-8319-2E4A-9334-8C87752F3243}" destId="{E9B6FED6-D20F-2F4F-B176-AC79C5968341}" srcOrd="0" destOrd="0" presId="urn:microsoft.com/office/officeart/2005/8/layout/hierarchy1"/>
    <dgm:cxn modelId="{97338172-DAAB-6240-A3DF-139B7A212221}" type="presParOf" srcId="{E9B6FED6-D20F-2F4F-B176-AC79C5968341}" destId="{0DB84F04-EE27-0540-8672-1CD1C648B69B}" srcOrd="0" destOrd="0" presId="urn:microsoft.com/office/officeart/2005/8/layout/hierarchy1"/>
    <dgm:cxn modelId="{0BDCEC1C-10C4-5D49-BBB3-1DC74D591B0E}" type="presParOf" srcId="{E9B6FED6-D20F-2F4F-B176-AC79C5968341}" destId="{BD2CD94F-7833-4345-9FC3-7598FADF6038}" srcOrd="1" destOrd="0" presId="urn:microsoft.com/office/officeart/2005/8/layout/hierarchy1"/>
    <dgm:cxn modelId="{5AF5C0FB-9FA6-4A47-8C8B-38CCFFDDF39A}" type="presParOf" srcId="{4CB7EFDD-8319-2E4A-9334-8C87752F3243}" destId="{14CD7DF7-2E3A-2842-9592-29E6BE1BE080}" srcOrd="1" destOrd="0" presId="urn:microsoft.com/office/officeart/2005/8/layout/hierarchy1"/>
    <dgm:cxn modelId="{7458AA64-4E36-3E4D-BD48-D0B3762E1A5F}" type="presParOf" srcId="{5D3D0C52-3E8B-3543-ABF7-78D6A1F6CDE6}" destId="{19D1852A-E273-6F41-9718-4C4B209F3B74}" srcOrd="1" destOrd="0" presId="urn:microsoft.com/office/officeart/2005/8/layout/hierarchy1"/>
    <dgm:cxn modelId="{F033BD41-F408-BA41-86FD-9DB7A6AE9DB2}" type="presParOf" srcId="{19D1852A-E273-6F41-9718-4C4B209F3B74}" destId="{213DB85A-EA12-1346-9459-C9BE3EBCC278}" srcOrd="0" destOrd="0" presId="urn:microsoft.com/office/officeart/2005/8/layout/hierarchy1"/>
    <dgm:cxn modelId="{AC0E527F-A305-7F4D-B251-B60315A9CFBA}" type="presParOf" srcId="{213DB85A-EA12-1346-9459-C9BE3EBCC278}" destId="{897534FB-FDA0-7B49-ADCC-B10F0C840355}" srcOrd="0" destOrd="0" presId="urn:microsoft.com/office/officeart/2005/8/layout/hierarchy1"/>
    <dgm:cxn modelId="{A0CD1498-732C-4146-B867-C3F03017BB6C}" type="presParOf" srcId="{213DB85A-EA12-1346-9459-C9BE3EBCC278}" destId="{2B240F02-E262-8D40-8C4B-45A06F2D2564}" srcOrd="1" destOrd="0" presId="urn:microsoft.com/office/officeart/2005/8/layout/hierarchy1"/>
    <dgm:cxn modelId="{8A9D8A75-D281-ED46-BA78-71648EC0003B}" type="presParOf" srcId="{19D1852A-E273-6F41-9718-4C4B209F3B74}" destId="{C338B99B-4A5B-AA41-AAF3-89B8BB8C3365}" srcOrd="1" destOrd="0" presId="urn:microsoft.com/office/officeart/2005/8/layout/hierarchy1"/>
    <dgm:cxn modelId="{58F4ED19-5AF1-244E-8F0A-EE1EA5E1C5CE}" type="presParOf" srcId="{5D3D0C52-3E8B-3543-ABF7-78D6A1F6CDE6}" destId="{8A58C8B6-A4AE-724C-BFA2-22F2904972E0}" srcOrd="2" destOrd="0" presId="urn:microsoft.com/office/officeart/2005/8/layout/hierarchy1"/>
    <dgm:cxn modelId="{1D18FD6F-6EC0-E948-9172-A8C85D4F45E0}" type="presParOf" srcId="{8A58C8B6-A4AE-724C-BFA2-22F2904972E0}" destId="{E0E8FA69-D48D-7E46-B075-5A88E85403A3}" srcOrd="0" destOrd="0" presId="urn:microsoft.com/office/officeart/2005/8/layout/hierarchy1"/>
    <dgm:cxn modelId="{E064E5EF-78B6-A840-9E75-AB8170929BE2}" type="presParOf" srcId="{E0E8FA69-D48D-7E46-B075-5A88E85403A3}" destId="{B21F9CBE-CCCE-9A4E-BB90-67BD3CEAD7D9}" srcOrd="0" destOrd="0" presId="urn:microsoft.com/office/officeart/2005/8/layout/hierarchy1"/>
    <dgm:cxn modelId="{189B2F33-0ABA-6842-9E22-CD5595EBB1B8}" type="presParOf" srcId="{E0E8FA69-D48D-7E46-B075-5A88E85403A3}" destId="{29923E25-ED5F-6149-B838-67C431A5AEA2}" srcOrd="1" destOrd="0" presId="urn:microsoft.com/office/officeart/2005/8/layout/hierarchy1"/>
    <dgm:cxn modelId="{E0CB4AE6-BA95-BB45-AEDB-3A0E849FECA3}" type="presParOf" srcId="{8A58C8B6-A4AE-724C-BFA2-22F2904972E0}" destId="{0F5DE594-FDC7-A248-9C96-7B16C30CF4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84F04-EE27-0540-8672-1CD1C648B69B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CD94F-7833-4345-9FC3-7598FADF6038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Git</a:t>
          </a:r>
        </a:p>
      </dsp:txBody>
      <dsp:txXfrm>
        <a:off x="378614" y="886531"/>
        <a:ext cx="2810360" cy="1744948"/>
      </dsp:txXfrm>
    </dsp:sp>
    <dsp:sp modelId="{897534FB-FDA0-7B49-ADCC-B10F0C840355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40F02-E262-8D40-8C4B-45A06F2D2564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Visual Studio / Any code editor</a:t>
          </a:r>
        </a:p>
      </dsp:txBody>
      <dsp:txXfrm>
        <a:off x="3946203" y="886531"/>
        <a:ext cx="2810360" cy="1744948"/>
      </dsp:txXfrm>
    </dsp:sp>
    <dsp:sp modelId="{B21F9CBE-CCCE-9A4E-BB90-67BD3CEAD7D9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23E25-ED5F-6149-B838-67C431A5AEA2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NodeJs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CE87-3D5A-0438-ECDD-E7680CFB8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DA11B-33C0-4099-F689-26D367C34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CC4BD-14B9-612E-732C-22D83A15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314CB-18BB-8E3E-FA64-4AF1B07E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141A8-A24C-D776-ED28-C29C090E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47126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C2D4-FC3F-C905-0140-731BBBD4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78C94-84F6-6E7B-61C9-8014B9C81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6F515-97E0-9947-F1A9-B1BF752B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B1C84-DB13-C492-8BE4-ECA484CE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1D439-B299-E6C7-6997-45F4A950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18585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FF85-C195-F47A-B451-E1861DA1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D4BBD-3B8B-1CCB-529A-4BA7F9695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1265C-FBA0-C5C2-7882-B96DD256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32223-35C3-C477-1625-2EF32901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8920C-82EC-A621-DB03-BEB3D6B7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01393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8476-A479-D6BE-8503-5A5F7BB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B6D9-F010-ACBF-6380-7445155B7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037F6-5381-A34D-BF73-0A553FF78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2965-7164-38B7-968E-16C9B126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BE820-CDCF-2FD7-B15F-83099421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8F57E-7E90-E971-5C35-C4B72ABD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52652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238F-C7C4-6E31-1F13-B83833E5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039E-2767-FFAC-7E94-73B3351B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E8FEA-9E57-2D4B-CC13-FD1794639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1BCEA-5E2A-76FE-66ED-44B53EDCF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A0BC2-0A37-0BC5-B401-B6D772D4C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ABB08-492C-DA89-64C8-890724F7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AEBCA-C325-4570-0BA1-20D43B9B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CBEB6-5947-D252-9127-5EE74A44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75795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E931-B5E5-A7E1-4B41-C4C0E4F9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6DAEB-0C75-7B01-B0CE-49538E8F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64A14-FE0C-CF78-A4B0-F4ED46E8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C6F4C-0836-945A-0591-E96D6CAD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318483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CEA95-F91A-5AD6-BB08-ED649C6D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511C9-8576-2DAC-7890-380D3348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AD3CB-B7B0-B977-5671-57BE9844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06598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B1B1-7839-41EB-D767-F12E51C6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B189-E8F0-EFFB-C27F-3FE03322A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23255-02E5-D9F2-FE09-6AB932042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5D503-4BFB-A030-65B7-83CDE486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E6D50-0AEC-DC6B-8344-22588C464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79E55-2431-605A-3DDC-E1CC4C26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88361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1C43-C1FC-B4ED-D1EE-5F8627FEA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B23D4D-B5A0-21C1-4340-73F3EC8B9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89A08-1816-516D-81DA-8DA6D6BA7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286E2-ECB5-C03D-6F25-1EB86110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42558-C2AD-0804-54EA-389BE1F7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55945-325F-0C38-401D-C11BE596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9845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8F1E-E35F-C585-58F0-19C70225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F77D3-9CCD-D72B-0A41-6A7D73C9C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37DB3-6205-F47F-D2F1-E452964D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552E-A4B6-10B7-666F-21416990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D4433-020F-F42E-B4B9-A13ADB40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41833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A79D5-25A3-35E8-3D39-F0D724611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01185-9FDF-5B05-C985-3AD5D8316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1DA84-CB3B-7D16-BD19-DE66C102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18742-54E4-D86A-3851-0AC89C861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F520B-18F2-3031-ADBD-EB8B23D3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23393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DBB83-96F2-CD14-61BF-D3DD4D8D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2703D-B6D4-0534-782F-62072E248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74619-C514-B80B-6FB2-4960126BC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A1289-8F5D-EC46-BF18-420830446D24}" type="datetimeFigureOut">
              <a:rPr lang="en-GE" smtClean="0"/>
              <a:t>26.07.25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3B65E-057C-E1A8-2540-C2F5C9D07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519E6-6126-E566-A4F2-36FC564CB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FFAF5-72EA-9D4A-A58C-F45E46E7AEB3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60618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how-the-web-works-part-ii-client-server-model-the-structure-of-a-web-application-735b4b6d76e3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aj3RBIoGF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69F33-FC54-0EFE-4261-DE016C07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GE" sz="3600" dirty="0">
                <a:solidFill>
                  <a:schemeClr val="tx2"/>
                </a:solidFill>
              </a:rPr>
              <a:t>Introduction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540F8-A264-9FEC-834B-F8227537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E" sz="1500" dirty="0">
                <a:solidFill>
                  <a:schemeClr val="tx2"/>
                </a:solidFill>
              </a:rPr>
              <a:t>Web development in nutshell</a:t>
            </a:r>
          </a:p>
          <a:p>
            <a:pPr marL="0" indent="0">
              <a:buNone/>
            </a:pPr>
            <a:r>
              <a:rPr lang="en-GE" sz="1500" dirty="0">
                <a:solidFill>
                  <a:schemeClr val="tx2"/>
                </a:solidFill>
              </a:rPr>
              <a:t>Tools for web development</a:t>
            </a:r>
          </a:p>
          <a:p>
            <a:pPr marL="0" indent="0">
              <a:buNone/>
            </a:pPr>
            <a:r>
              <a:rPr lang="en-GE" sz="1500" dirty="0">
                <a:solidFill>
                  <a:schemeClr val="tx2"/>
                </a:solidFill>
              </a:rPr>
              <a:t>Frontend vs Backend</a:t>
            </a:r>
          </a:p>
          <a:p>
            <a:pPr marL="0" indent="0">
              <a:buNone/>
            </a:pPr>
            <a:r>
              <a:rPr lang="en-GE" sz="1500" dirty="0">
                <a:solidFill>
                  <a:schemeClr val="tx2"/>
                </a:solidFill>
              </a:rPr>
              <a:t>Expectations vs reality</a:t>
            </a:r>
          </a:p>
          <a:p>
            <a:pPr marL="0" indent="0">
              <a:buNone/>
            </a:pPr>
            <a:r>
              <a:rPr lang="en-GE" sz="1500" dirty="0">
                <a:solidFill>
                  <a:schemeClr val="tx2"/>
                </a:solidFill>
              </a:rPr>
              <a:t>AI role into web development</a:t>
            </a:r>
          </a:p>
          <a:p>
            <a:pPr marL="0" indent="0">
              <a:buNone/>
            </a:pPr>
            <a:r>
              <a:rPr lang="en-GE" sz="1500" dirty="0">
                <a:solidFill>
                  <a:schemeClr val="tx2"/>
                </a:solidFill>
              </a:rPr>
              <a:t>What to expect from web development</a:t>
            </a:r>
          </a:p>
          <a:p>
            <a:pPr marL="0" indent="0">
              <a:buNone/>
            </a:pPr>
            <a:r>
              <a:rPr lang="en-GE" sz="1500" dirty="0">
                <a:solidFill>
                  <a:schemeClr val="tx2"/>
                </a:solidFill>
              </a:rPr>
              <a:t>Web development full flow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730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hand touching a screen with a glowing circle&#10;&#10;AI-generated content may be incorrect.">
            <a:extLst>
              <a:ext uri="{FF2B5EF4-FFF2-40B4-BE49-F238E27FC236}">
                <a16:creationId xmlns:a16="http://schemas.microsoft.com/office/drawing/2014/main" id="{EE0CF945-887C-C7EC-8A66-586C3E3BC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573" b="14132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81C46-D688-5929-4427-0BA3AA8F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Web development in nutshell</a:t>
            </a:r>
          </a:p>
        </p:txBody>
      </p:sp>
    </p:spTree>
    <p:extLst>
      <p:ext uri="{BB962C8B-B14F-4D97-AF65-F5344CB8AC3E}">
        <p14:creationId xmlns:p14="http://schemas.microsoft.com/office/powerpoint/2010/main" val="37304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0EDEA-FE4A-7ADF-2D26-E05BFFC4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 for web development</a:t>
            </a:r>
          </a:p>
        </p:txBody>
      </p:sp>
      <p:pic>
        <p:nvPicPr>
          <p:cNvPr id="5122" name="Picture 2" descr="Web Development Tools Every Developer Should Know">
            <a:extLst>
              <a:ext uri="{FF2B5EF4-FFF2-40B4-BE49-F238E27FC236}">
                <a16:creationId xmlns:a16="http://schemas.microsoft.com/office/drawing/2014/main" id="{DA066968-DB4F-506F-7AAF-240FDD3963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181999"/>
            <a:ext cx="6780700" cy="449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33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Backend vs. Frontend: Understanding the Role of a Full Stack Developer -  Eduonix Blog">
            <a:extLst>
              <a:ext uri="{FF2B5EF4-FFF2-40B4-BE49-F238E27FC236}">
                <a16:creationId xmlns:a16="http://schemas.microsoft.com/office/drawing/2014/main" id="{9EFC8A46-919F-18EB-1925-F8A8A7F116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00"/>
          <a:stretch>
            <a:fillRect/>
          </a:stretch>
        </p:blipFill>
        <p:spPr bwMode="auto">
          <a:xfrm>
            <a:off x="20" y="10"/>
            <a:ext cx="12191979" cy="5486390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F0DCB-A05F-AFC9-DC0F-43F1F7E9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Frontend vs Backend</a:t>
            </a:r>
          </a:p>
        </p:txBody>
      </p:sp>
    </p:spTree>
    <p:extLst>
      <p:ext uri="{BB962C8B-B14F-4D97-AF65-F5344CB8AC3E}">
        <p14:creationId xmlns:p14="http://schemas.microsoft.com/office/powerpoint/2010/main" val="14367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1" name="Rectangle 309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4E11A-111B-0F64-7215-8283C18F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E" sz="5400"/>
              <a:t>What can you expect</a:t>
            </a:r>
          </a:p>
        </p:txBody>
      </p:sp>
      <p:sp>
        <p:nvSpPr>
          <p:cNvPr id="309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542506DD-4A8D-9647-441A-456FB1A5C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Expectations:</a:t>
            </a:r>
          </a:p>
          <a:p>
            <a:r>
              <a:rPr lang="en-US" sz="1900" dirty="0"/>
              <a:t>I’ll learn in 3 month</a:t>
            </a:r>
          </a:p>
          <a:p>
            <a:r>
              <a:rPr lang="en-US" sz="1900" dirty="0"/>
              <a:t>Most of my life will be writing code</a:t>
            </a:r>
          </a:p>
          <a:p>
            <a:r>
              <a:rPr lang="en-US" sz="1900" dirty="0"/>
              <a:t>When I learn react or angular I’m done</a:t>
            </a:r>
          </a:p>
          <a:p>
            <a:pPr marL="0" indent="0">
              <a:buNone/>
            </a:pPr>
            <a:r>
              <a:rPr lang="en-US" sz="1900" dirty="0"/>
              <a:t>Reality:</a:t>
            </a:r>
          </a:p>
          <a:p>
            <a:r>
              <a:rPr lang="en-US" sz="1900" dirty="0"/>
              <a:t>The learning is infinity due to everything changes</a:t>
            </a:r>
          </a:p>
          <a:p>
            <a:r>
              <a:rPr lang="en-US" sz="1900" dirty="0"/>
              <a:t>Soft skills are important too</a:t>
            </a:r>
          </a:p>
          <a:p>
            <a:endParaRPr lang="en-US" sz="1900" dirty="0"/>
          </a:p>
        </p:txBody>
      </p:sp>
      <p:pic>
        <p:nvPicPr>
          <p:cNvPr id="3074" name="Picture 2" descr="The Power of Expectations (and How to Use them to your Advantage) | by  Sally Clarke | Medium">
            <a:extLst>
              <a:ext uri="{FF2B5EF4-FFF2-40B4-BE49-F238E27FC236}">
                <a16:creationId xmlns:a16="http://schemas.microsoft.com/office/drawing/2014/main" id="{BDA6DD35-6069-75F3-A826-7A20E50F2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8" r="22918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18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9137-8FBA-339F-9F29-D86D10042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E" sz="3600" dirty="0"/>
              <a:t>AI Role in web dev</a:t>
            </a:r>
          </a:p>
        </p:txBody>
      </p:sp>
      <p:pic>
        <p:nvPicPr>
          <p:cNvPr id="2052" name="Picture 4" descr="The Role Of Artificial Intelligence In Web Development | by Teksun | Medium">
            <a:extLst>
              <a:ext uri="{FF2B5EF4-FFF2-40B4-BE49-F238E27FC236}">
                <a16:creationId xmlns:a16="http://schemas.microsoft.com/office/drawing/2014/main" id="{386295FB-8111-BE9C-3503-58D764359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4" b="7107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C6AD4-5F81-5121-CA84-099453EC0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GE" sz="1800" dirty="0"/>
              <a:t>Devs will be replaced? </a:t>
            </a:r>
          </a:p>
          <a:p>
            <a:r>
              <a:rPr lang="en-GE" sz="1800" dirty="0"/>
              <a:t>Tool that will make developer faster?</a:t>
            </a:r>
          </a:p>
          <a:p>
            <a:r>
              <a:rPr lang="en-GE" sz="1800" dirty="0"/>
              <a:t>Game changer in web dev?</a:t>
            </a:r>
          </a:p>
        </p:txBody>
      </p:sp>
    </p:spTree>
    <p:extLst>
      <p:ext uri="{BB962C8B-B14F-4D97-AF65-F5344CB8AC3E}">
        <p14:creationId xmlns:p14="http://schemas.microsoft.com/office/powerpoint/2010/main" val="93328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3EBD4-19D8-17D3-E7EA-35EBC76A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 Development Flow </a:t>
            </a:r>
          </a:p>
        </p:txBody>
      </p:sp>
      <p:pic>
        <p:nvPicPr>
          <p:cNvPr id="1026" name="Picture 2" descr="freecodecamp.org/news/ho...">
            <a:extLst>
              <a:ext uri="{FF2B5EF4-FFF2-40B4-BE49-F238E27FC236}">
                <a16:creationId xmlns:a16="http://schemas.microsoft.com/office/drawing/2014/main" id="{E5E1F27B-54BE-A99A-6A9E-B5126D230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0859" y="578738"/>
            <a:ext cx="5458433" cy="56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0331D1-E45B-A83A-DCD9-98C3AF9A4F8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8200" y="-1820046"/>
            <a:ext cx="10028820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GE" altLang="en-G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E" altLang="en-G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GE" altLang="en-G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5281508-8410-4173-45C8-E749C5AE134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8200" y="-1535353"/>
            <a:ext cx="100288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GE" altLang="en-G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ui-sans-serif"/>
                <a:hlinkClick r:id="rId3"/>
              </a:rPr>
            </a:br>
            <a:endParaRPr kumimoji="0" lang="en-GE" altLang="en-G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77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290A-A114-5F58-8599-CEBA9ECF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E" dirty="0"/>
              <a:t>Lets make theory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A36F5-FACA-2AFB-EE38-997C94E76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E" dirty="0"/>
              <a:t>Setup tools we need for this course</a:t>
            </a:r>
          </a:p>
          <a:p>
            <a:r>
              <a:rPr lang="en-GE" dirty="0"/>
              <a:t>What is server &amp; Simple demo how it works</a:t>
            </a:r>
          </a:p>
          <a:p>
            <a:r>
              <a:rPr lang="en-GE" dirty="0"/>
              <a:t>How was code managed in old times </a:t>
            </a:r>
          </a:p>
          <a:p>
            <a:r>
              <a:rPr lang="en-GE" dirty="0"/>
              <a:t>What is version control</a:t>
            </a:r>
          </a:p>
          <a:p>
            <a:r>
              <a:rPr lang="en-GE" dirty="0"/>
              <a:t>Git essentials</a:t>
            </a:r>
          </a:p>
          <a:p>
            <a:r>
              <a:rPr lang="en-GE" dirty="0"/>
              <a:t>Build first html page</a:t>
            </a:r>
          </a:p>
        </p:txBody>
      </p:sp>
    </p:spTree>
    <p:extLst>
      <p:ext uri="{BB962C8B-B14F-4D97-AF65-F5344CB8AC3E}">
        <p14:creationId xmlns:p14="http://schemas.microsoft.com/office/powerpoint/2010/main" val="1669917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6ECE1-EA1D-D95D-1B5C-58FB49F5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E" sz="4800"/>
              <a:t>Setup tools we need for this course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CC9E1D-63E2-B86A-FEDB-CAEB1E8A5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32763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90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0C849-E8F6-F3C5-A786-C605529D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server</a:t>
            </a:r>
          </a:p>
        </p:txBody>
      </p:sp>
      <p:pic>
        <p:nvPicPr>
          <p:cNvPr id="6146" name="Picture 2" descr="What is a Server? Your One-Stop Guide – servers.com">
            <a:extLst>
              <a:ext uri="{FF2B5EF4-FFF2-40B4-BE49-F238E27FC236}">
                <a16:creationId xmlns:a16="http://schemas.microsoft.com/office/drawing/2014/main" id="{6D293594-B2AD-8C54-6615-BF1EEEB301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3663" y="1675227"/>
            <a:ext cx="8744674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937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83DF0-3DCA-ECED-13E3-07BDC6BD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Good old times</a:t>
            </a:r>
          </a:p>
        </p:txBody>
      </p:sp>
      <p:sp>
        <p:nvSpPr>
          <p:cNvPr id="717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The cost of not using version control - Claytex">
            <a:extLst>
              <a:ext uri="{FF2B5EF4-FFF2-40B4-BE49-F238E27FC236}">
                <a16:creationId xmlns:a16="http://schemas.microsoft.com/office/drawing/2014/main" id="{DAE223C4-849E-B8E9-6E35-E8C5908274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2907060"/>
            <a:ext cx="11548872" cy="303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76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E7410-029F-F625-2804-1C96333D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 Control Systems (git)</a:t>
            </a:r>
          </a:p>
        </p:txBody>
      </p:sp>
      <p:sp>
        <p:nvSpPr>
          <p:cNvPr id="820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Git, GitHub, &amp; Workflow Fundamentals - DEV Community">
            <a:extLst>
              <a:ext uri="{FF2B5EF4-FFF2-40B4-BE49-F238E27FC236}">
                <a16:creationId xmlns:a16="http://schemas.microsoft.com/office/drawing/2014/main" id="{50DAB4B9-2BC4-3EC9-8EEB-5A29A3A498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9403" y="867811"/>
            <a:ext cx="7214616" cy="512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337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AD184-E2D2-9BC3-6B94-0158BCAD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 branch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diagram of a branch&#10;&#10;AI-generated content may be incorrect.">
            <a:extLst>
              <a:ext uri="{FF2B5EF4-FFF2-40B4-BE49-F238E27FC236}">
                <a16:creationId xmlns:a16="http://schemas.microsoft.com/office/drawing/2014/main" id="{0B538A58-01EF-88A3-3B8C-2E584A38B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654296" y="1692794"/>
            <a:ext cx="7214616" cy="3444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69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AA75F-5FEB-15A3-1DD1-07C6E73B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E" sz="5400"/>
              <a:t>Commands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11855-28E3-4450-1185-F310D3E9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E" sz="2200"/>
              <a:t>Git branch</a:t>
            </a:r>
          </a:p>
          <a:p>
            <a:pPr marL="0" indent="0">
              <a:buNone/>
            </a:pPr>
            <a:r>
              <a:rPr lang="en-GB" sz="2200"/>
              <a:t>G</a:t>
            </a:r>
            <a:r>
              <a:rPr lang="en-GE" sz="2200"/>
              <a:t>it branch –a</a:t>
            </a:r>
          </a:p>
          <a:p>
            <a:pPr marL="0" indent="0">
              <a:buNone/>
            </a:pPr>
            <a:r>
              <a:rPr lang="en-GB" sz="2200"/>
              <a:t>G</a:t>
            </a:r>
            <a:r>
              <a:rPr lang="en-GE" sz="2200"/>
              <a:t>it checkout &lt;branch_name&gt;</a:t>
            </a:r>
          </a:p>
          <a:p>
            <a:pPr marL="0" indent="0">
              <a:buNone/>
            </a:pPr>
            <a:r>
              <a:rPr lang="en-GE" sz="2200"/>
              <a:t>Git checkout -b &lt;branch_name&gt;</a:t>
            </a:r>
          </a:p>
        </p:txBody>
      </p:sp>
    </p:spTree>
    <p:extLst>
      <p:ext uri="{BB962C8B-B14F-4D97-AF65-F5344CB8AC3E}">
        <p14:creationId xmlns:p14="http://schemas.microsoft.com/office/powerpoint/2010/main" val="4008640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1FA1A-6ACB-2719-2C0B-2CDDD4DAE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Workin</a:t>
            </a:r>
            <a:r>
              <a:rPr lang="en-US" sz="3600" dirty="0">
                <a:solidFill>
                  <a:srgbClr val="FFFFFF"/>
                </a:solidFill>
              </a:rPr>
              <a:t>g directory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group of people standing next to a train&#10;&#10;AI-generated content may be incorrect.">
            <a:extLst>
              <a:ext uri="{FF2B5EF4-FFF2-40B4-BE49-F238E27FC236}">
                <a16:creationId xmlns:a16="http://schemas.microsoft.com/office/drawing/2014/main" id="{1FB9A861-4D2F-092C-CB10-66A86BEF9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83296" y="643466"/>
            <a:ext cx="5568739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685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40D16-9415-BD84-E884-61C1A227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Staging Area</a:t>
            </a:r>
          </a:p>
        </p:txBody>
      </p:sp>
      <p:pic>
        <p:nvPicPr>
          <p:cNvPr id="5" name="Content Placeholder 4" descr="A group of people in a train&#10;&#10;AI-generated content may be incorrect.">
            <a:extLst>
              <a:ext uri="{FF2B5EF4-FFF2-40B4-BE49-F238E27FC236}">
                <a16:creationId xmlns:a16="http://schemas.microsoft.com/office/drawing/2014/main" id="{6A0546F5-7014-A507-B106-4E0AD6BAF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35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90B99-7F61-C95A-579E-621063A9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Commit</a:t>
            </a:r>
          </a:p>
        </p:txBody>
      </p:sp>
      <p:pic>
        <p:nvPicPr>
          <p:cNvPr id="5" name="Content Placeholder 4" descr="A cartoon of people on a train&#10;&#10;AI-generated content may be incorrect.">
            <a:extLst>
              <a:ext uri="{FF2B5EF4-FFF2-40B4-BE49-F238E27FC236}">
                <a16:creationId xmlns:a16="http://schemas.microsoft.com/office/drawing/2014/main" id="{66068581-3E5B-249E-CD85-C281F72FC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53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56B6-BBB6-8980-5BB5-7F7216CD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E" dirty="0"/>
              <a:t>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2503B-7795-1E48-2D5A-6BA08E04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E" dirty="0"/>
              <a:t>Git init – creates central station</a:t>
            </a:r>
          </a:p>
          <a:p>
            <a:pPr marL="0" indent="0">
              <a:buNone/>
            </a:pPr>
            <a:r>
              <a:rPr lang="en-GE" dirty="0"/>
              <a:t>Git push - sends train to central station ( that is connected to all of the users station )</a:t>
            </a:r>
          </a:p>
          <a:p>
            <a:pPr marL="0" indent="0">
              <a:buNone/>
            </a:pPr>
            <a:r>
              <a:rPr lang="en-GE" dirty="0"/>
              <a:t>Git pull – sends back the train from the central station</a:t>
            </a:r>
          </a:p>
          <a:p>
            <a:pPr marL="0" indent="0">
              <a:buNone/>
            </a:pPr>
            <a:r>
              <a:rPr lang="en-GE" dirty="0"/>
              <a:t>Git stash &lt;file_name&gt; - stashes the changes</a:t>
            </a:r>
          </a:p>
          <a:p>
            <a:pPr marL="0" indent="0">
              <a:buNone/>
            </a:pPr>
            <a:r>
              <a:rPr lang="en-GE" dirty="0"/>
              <a:t>Git commit –m &lt;commit_message&gt; - commits the changes</a:t>
            </a:r>
          </a:p>
          <a:p>
            <a:pPr marL="0" indent="0">
              <a:buNone/>
            </a:pPr>
            <a:r>
              <a:rPr lang="en-GE" dirty="0"/>
              <a:t>Git add . / Git add &lt;file_name&gt;</a:t>
            </a:r>
          </a:p>
        </p:txBody>
      </p:sp>
    </p:spTree>
    <p:extLst>
      <p:ext uri="{BB962C8B-B14F-4D97-AF65-F5344CB8AC3E}">
        <p14:creationId xmlns:p14="http://schemas.microsoft.com/office/powerpoint/2010/main" val="1892776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5E2CB-7861-5308-D528-ED8A4E60D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First HTML View</a:t>
            </a:r>
          </a:p>
        </p:txBody>
      </p:sp>
      <p:pic>
        <p:nvPicPr>
          <p:cNvPr id="11266" name="Picture 2" descr="Basic HTML tutorial- basic tags">
            <a:extLst>
              <a:ext uri="{FF2B5EF4-FFF2-40B4-BE49-F238E27FC236}">
                <a16:creationId xmlns:a16="http://schemas.microsoft.com/office/drawing/2014/main" id="{F9BFC569-5EC7-53A2-D7F3-D575DD4328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303216"/>
            <a:ext cx="6780700" cy="424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514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4DC7-5894-22A1-0F87-7B1B5901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E" dirty="0"/>
              <a:t>Follow Up Tasks: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5ADC-AC74-859A-B472-9990BB9E8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E" dirty="0"/>
              <a:t>Create simple html file. </a:t>
            </a:r>
            <a:r>
              <a:rPr lang="en-GB" dirty="0"/>
              <a:t>I</a:t>
            </a:r>
            <a:r>
              <a:rPr lang="en-GE" dirty="0"/>
              <a:t>nit local repository and connect it to central github repo. Practise with commands we covered </a:t>
            </a:r>
          </a:p>
        </p:txBody>
      </p:sp>
    </p:spTree>
    <p:extLst>
      <p:ext uri="{BB962C8B-B14F-4D97-AF65-F5344CB8AC3E}">
        <p14:creationId xmlns:p14="http://schemas.microsoft.com/office/powerpoint/2010/main" val="826313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60A2-7558-B325-1B77-BDA4B490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E" dirty="0"/>
              <a:t>Resources: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EF17F-9094-2A5A-EA6E-DE2C2DA9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https://www.youtube.com/watch?v=Oaj3RBIoGFc</a:t>
            </a:r>
            <a:endParaRPr lang="en-GB" dirty="0"/>
          </a:p>
          <a:p>
            <a:pPr marL="0" indent="0">
              <a:buNone/>
            </a:pPr>
            <a:endParaRPr lang="en-GE" dirty="0"/>
          </a:p>
        </p:txBody>
      </p:sp>
    </p:spTree>
    <p:extLst>
      <p:ext uri="{BB962C8B-B14F-4D97-AF65-F5344CB8AC3E}">
        <p14:creationId xmlns:p14="http://schemas.microsoft.com/office/powerpoint/2010/main" val="1490575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323</Words>
  <Application>Microsoft Macintosh PowerPoint</Application>
  <PresentationFormat>Widescreen</PresentationFormat>
  <Paragraphs>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ui-sans-serif</vt:lpstr>
      <vt:lpstr>Office Theme</vt:lpstr>
      <vt:lpstr>Introduction</vt:lpstr>
      <vt:lpstr>Web development in nutshell</vt:lpstr>
      <vt:lpstr>Tools for web development</vt:lpstr>
      <vt:lpstr>Frontend vs Backend</vt:lpstr>
      <vt:lpstr>What can you expect</vt:lpstr>
      <vt:lpstr>AI Role in web dev</vt:lpstr>
      <vt:lpstr>Web Development Flow </vt:lpstr>
      <vt:lpstr>Lets make theory practice</vt:lpstr>
      <vt:lpstr>Setup tools we need for this course</vt:lpstr>
      <vt:lpstr>What is server</vt:lpstr>
      <vt:lpstr>Good old times</vt:lpstr>
      <vt:lpstr>Version Control Systems (git)</vt:lpstr>
      <vt:lpstr>Git branch</vt:lpstr>
      <vt:lpstr>Commands</vt:lpstr>
      <vt:lpstr>Working directory</vt:lpstr>
      <vt:lpstr>Staging Area</vt:lpstr>
      <vt:lpstr>Commit</vt:lpstr>
      <vt:lpstr>Commands</vt:lpstr>
      <vt:lpstr>First HTML View</vt:lpstr>
      <vt:lpstr>Follow Up Tasks:</vt:lpstr>
      <vt:lpstr>Resources: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 Bibiluri</dc:creator>
  <cp:lastModifiedBy>Giorgi Bibiluri</cp:lastModifiedBy>
  <cp:revision>2</cp:revision>
  <dcterms:created xsi:type="dcterms:W3CDTF">2025-07-25T15:17:11Z</dcterms:created>
  <dcterms:modified xsi:type="dcterms:W3CDTF">2025-07-26T09:17:08Z</dcterms:modified>
</cp:coreProperties>
</file>