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it live. React doesn't know the variable changed, and it would reset anyway.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It's array destructuring. Convention: [thing, setThing].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interactive feature follows this loop.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event object e works as in vanilla JS.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✘ version runs while rendering. Show the infinite-loop error.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source of truth: the input shows what state says.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array → React thinks nothing changed.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three patterns cover almost every list.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Find the closest parent of everyone who needs the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same data can be state in a parent and a prop in a child.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782" y="812781"/>
            <a:ext cx="10566436" cy="5587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40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40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782" y="1676363"/>
            <a:ext cx="10566418" cy="43688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782" y="812781"/>
            <a:ext cx="10566436" cy="5587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40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40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782" y="1676363"/>
            <a:ext cx="10566418" cy="43688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782" y="812782"/>
            <a:ext cx="10883429" cy="5841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000" b="1" i="0" spc="-50" kern="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doesn't it update?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12782" y="1498564"/>
            <a:ext cx="10883429" cy="454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80"/>
              </a:lnSpc>
              <a:buNone/>
            </a:pPr>
            <a:r>
              <a:rPr lang="en-US" sz="26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value changes. The screen doesn't.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12782" y="2283384"/>
            <a:ext cx="6350000" cy="3352511"/>
          </a:xfrm>
          <a:prstGeom prst="roundRect">
            <a:avLst>
              <a:gd name="adj" fmla="val 3788"/>
            </a:avLst>
          </a:prstGeom>
          <a:solidFill>
            <a:srgbClr val="1E293B"/>
          </a:solidFill>
          <a:ln/>
        </p:spPr>
      </p:sp>
      <p:sp>
        <p:nvSpPr>
          <p:cNvPr id="5" name="Shape 3"/>
          <p:cNvSpPr/>
          <p:nvPr/>
        </p:nvSpPr>
        <p:spPr>
          <a:xfrm>
            <a:off x="831832" y="2537384"/>
            <a:ext cx="0" cy="355564"/>
          </a:xfrm>
          <a:prstGeom prst="line">
            <a:avLst/>
          </a:prstGeom>
          <a:noFill/>
          <a:ln w="38100">
            <a:solidFill>
              <a:srgbClr val="1E2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7005" y="2537384"/>
            <a:ext cx="5913225" cy="3809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C792E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let</a:t>
            </a: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count = </a:t>
            </a:r>
            <a:r>
              <a:rPr lang="en-US" sz="2000" dirty="0">
                <a:solidFill>
                  <a:srgbClr val="F78C6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</a:t>
            </a: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;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31832" y="2892948"/>
            <a:ext cx="0" cy="355564"/>
          </a:xfrm>
          <a:prstGeom prst="line">
            <a:avLst/>
          </a:prstGeom>
          <a:noFill/>
          <a:ln w="38100">
            <a:solidFill>
              <a:srgbClr val="1E29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7005" y="2892948"/>
            <a:ext cx="5913225" cy="3809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C792E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function</a:t>
            </a: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</a:t>
            </a:r>
            <a:r>
              <a:rPr lang="en-US" sz="2000" dirty="0">
                <a:solidFill>
                  <a:srgbClr val="82AA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Counter</a:t>
            </a: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() {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831832" y="3248512"/>
            <a:ext cx="0" cy="355564"/>
          </a:xfrm>
          <a:prstGeom prst="line">
            <a:avLst/>
          </a:prstGeom>
          <a:noFill/>
          <a:ln w="38100">
            <a:solidFill>
              <a:srgbClr val="1E29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7005" y="3248512"/>
            <a:ext cx="5913225" cy="3809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2000" dirty="0">
                <a:solidFill>
                  <a:srgbClr val="C792E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return</a:t>
            </a: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(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831832" y="3604076"/>
            <a:ext cx="0" cy="355564"/>
          </a:xfrm>
          <a:prstGeom prst="line">
            <a:avLst/>
          </a:prstGeom>
          <a:noFill/>
          <a:ln w="38100">
            <a:solidFill>
              <a:srgbClr val="087EA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17005" y="3604076"/>
            <a:ext cx="5913225" cy="3809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</a:t>
            </a:r>
            <a:r>
              <a:rPr lang="en-US" sz="2000" dirty="0">
                <a:solidFill>
                  <a:srgbClr val="7DD3F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&lt;button</a:t>
            </a: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</a:t>
            </a:r>
            <a:r>
              <a:rPr lang="en-US" sz="2000" dirty="0">
                <a:solidFill>
                  <a:srgbClr val="FFCB6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onClick</a:t>
            </a: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={() =&gt; count++}</a:t>
            </a:r>
            <a:r>
              <a:rPr lang="en-US" sz="2000" dirty="0">
                <a:solidFill>
                  <a:srgbClr val="7DD3F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&gt;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831832" y="3959640"/>
            <a:ext cx="0" cy="355564"/>
          </a:xfrm>
          <a:prstGeom prst="line">
            <a:avLst/>
          </a:prstGeom>
          <a:noFill/>
          <a:ln w="38100">
            <a:solidFill>
              <a:srgbClr val="1E29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17005" y="3959640"/>
            <a:ext cx="5913225" cy="3809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{count}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831832" y="4315204"/>
            <a:ext cx="0" cy="355564"/>
          </a:xfrm>
          <a:prstGeom prst="line">
            <a:avLst/>
          </a:prstGeom>
          <a:noFill/>
          <a:ln w="38100">
            <a:solidFill>
              <a:srgbClr val="1E293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17005" y="4315204"/>
            <a:ext cx="5913225" cy="3809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</a:t>
            </a:r>
            <a:r>
              <a:rPr lang="en-US" sz="2000" dirty="0">
                <a:solidFill>
                  <a:srgbClr val="7DD3F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&lt;/button&gt;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831832" y="4670768"/>
            <a:ext cx="0" cy="355564"/>
          </a:xfrm>
          <a:prstGeom prst="line">
            <a:avLst/>
          </a:prstGeom>
          <a:noFill/>
          <a:ln w="38100">
            <a:solidFill>
              <a:srgbClr val="1E29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17005" y="4670768"/>
            <a:ext cx="5913225" cy="3809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);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831832" y="5026332"/>
            <a:ext cx="0" cy="355564"/>
          </a:xfrm>
          <a:prstGeom prst="line">
            <a:avLst/>
          </a:prstGeom>
          <a:noFill/>
          <a:ln w="38100">
            <a:solidFill>
              <a:srgbClr val="1E293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17005" y="5026332"/>
            <a:ext cx="5913225" cy="3809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7832698" y="2500772"/>
            <a:ext cx="3282950" cy="2146580"/>
          </a:xfrm>
          <a:prstGeom prst="roundRect">
            <a:avLst>
              <a:gd name="adj" fmla="val 6656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840491" y="2508566"/>
            <a:ext cx="3267363" cy="368282"/>
          </a:xfrm>
          <a:custGeom>
            <a:avLst/>
            <a:gdLst/>
            <a:ahLst/>
            <a:cxnLst/>
            <a:rect l="l" t="t" r="r" b="b"/>
            <a:pathLst>
              <a:path w="3267363" h="368282">
                <a:moveTo>
                  <a:pt x="0" y="135082"/>
                </a:moveTo>
                <a:arcTo hR="135082" wR="135082" stAng="10800000" swAng="5400000"/>
                <a:lnTo>
                  <a:pt x="3132282" y="0"/>
                </a:lnTo>
                <a:arcTo hR="135082" wR="135082" stAng="16200000" swAng="5400000"/>
                <a:lnTo>
                  <a:pt x="3267363" y="368282"/>
                </a:lnTo>
                <a:lnTo>
                  <a:pt x="0" y="368282"/>
                </a:lnTo>
                <a:close/>
              </a:path>
            </a:pathLst>
          </a:custGeom>
          <a:solidFill>
            <a:srgbClr val="F1F5F9"/>
          </a:solidFill>
          <a:ln/>
        </p:spPr>
      </p:sp>
      <p:sp>
        <p:nvSpPr>
          <p:cNvPr id="23" name="Shape 21"/>
          <p:cNvSpPr/>
          <p:nvPr/>
        </p:nvSpPr>
        <p:spPr>
          <a:xfrm>
            <a:off x="7992882" y="2635566"/>
            <a:ext cx="114282" cy="114282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/>
        </p:spPr>
      </p:sp>
      <p:sp>
        <p:nvSpPr>
          <p:cNvPr id="24" name="Shape 22"/>
          <p:cNvSpPr/>
          <p:nvPr/>
        </p:nvSpPr>
        <p:spPr>
          <a:xfrm>
            <a:off x="8183337" y="2635566"/>
            <a:ext cx="114282" cy="114282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/>
        </p:spPr>
      </p:sp>
      <p:sp>
        <p:nvSpPr>
          <p:cNvPr id="25" name="Shape 23"/>
          <p:cNvSpPr/>
          <p:nvPr/>
        </p:nvSpPr>
        <p:spPr>
          <a:xfrm>
            <a:off x="8373792" y="2635566"/>
            <a:ext cx="114282" cy="114282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/>
        </p:spPr>
      </p:sp>
      <p:sp>
        <p:nvSpPr>
          <p:cNvPr id="26" name="Text 24"/>
          <p:cNvSpPr/>
          <p:nvPr/>
        </p:nvSpPr>
        <p:spPr>
          <a:xfrm>
            <a:off x="8862895" y="3384848"/>
            <a:ext cx="1222555" cy="746711"/>
          </a:xfrm>
          <a:prstGeom prst="roundRect">
            <a:avLst>
              <a:gd name="adj" fmla="val 13606"/>
            </a:avLst>
          </a:prstGeom>
          <a:solidFill>
            <a:srgbClr val="087EA4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468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3600" dirty="0"/>
          </a:p>
        </p:txBody>
      </p:sp>
      <p:pic>
        <p:nvPicPr>
          <p:cNvPr id="27" name="Image 0" descr="Mouse cursor clicking the button">    </p:cNvPr>
          <p:cNvPicPr>
            <a:picLocks noChangeAspect="1"/>
          </p:cNvPicPr>
          <p:nvPr/>
        </p:nvPicPr>
        <p:blipFill>
          <a:blip r:embed="rId1"/>
          <a:srcRect l="0" r="0" t="-2" b="-2"/>
          <a:stretch/>
        </p:blipFill>
        <p:spPr>
          <a:xfrm>
            <a:off x="9745490" y="3829348"/>
            <a:ext cx="355564" cy="457173"/>
          </a:xfrm>
          <a:prstGeom prst="rect">
            <a:avLst/>
          </a:prstGeom>
        </p:spPr>
      </p:pic>
      <p:sp>
        <p:nvSpPr>
          <p:cNvPr id="28" name="Shape 25"/>
          <p:cNvSpPr/>
          <p:nvPr/>
        </p:nvSpPr>
        <p:spPr>
          <a:xfrm>
            <a:off x="8412315" y="4894966"/>
            <a:ext cx="2123714" cy="523496"/>
          </a:xfrm>
          <a:prstGeom prst="roundRect">
            <a:avLst>
              <a:gd name="adj" fmla="val 17588"/>
            </a:avLst>
          </a:prstGeom>
          <a:solidFill>
            <a:srgbClr val="FFFBEB"/>
          </a:solidFill>
          <a:ln w="19050">
            <a:solidFill>
              <a:srgbClr val="F59E0B"/>
            </a:solidFill>
            <a:prstDash val="solid"/>
          </a:ln>
        </p:spPr>
      </p:sp>
      <p:pic>
        <p:nvPicPr>
          <p:cNvPr id="29" name="Image 1" descr="Warni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597891" y="5016996"/>
            <a:ext cx="279391" cy="279391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8978846" y="4978932"/>
            <a:ext cx="1547659" cy="3809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0F172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count = 3</a:t>
            </a:r>
            <a:endParaRPr lang="en-US" sz="2000" dirty="0"/>
          </a:p>
        </p:txBody>
      </p:sp>
      <p:sp>
        <p:nvSpPr>
          <p:cNvPr id="31" name="Text 27"/>
          <p:cNvSpPr/>
          <p:nvPr/>
        </p:nvSpPr>
        <p:spPr>
          <a:xfrm>
            <a:off x="812782" y="406391"/>
            <a:ext cx="3924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50" kern="0" dirty="0">
                <a:solidFill>
                  <a:srgbClr val="087EA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 · Lecture 3</a:t>
            </a:r>
            <a:endParaRPr lang="en-US" sz="1200" dirty="0"/>
          </a:p>
        </p:txBody>
      </p:sp>
      <p:sp>
        <p:nvSpPr>
          <p:cNvPr id="32" name="Text 28"/>
          <p:cNvSpPr/>
          <p:nvPr/>
        </p:nvSpPr>
        <p:spPr>
          <a:xfrm>
            <a:off x="10058418" y="6238289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782" y="812781"/>
            <a:ext cx="10883429" cy="5841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000" b="1" i="0" spc="-50" kern="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useState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12782" y="1498564"/>
            <a:ext cx="10883429" cy="454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80"/>
              </a:lnSpc>
              <a:buNone/>
            </a:pPr>
            <a:r>
              <a:rPr lang="en-US" sz="26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value React remembers + a function to change it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079848" y="2235173"/>
            <a:ext cx="1962150" cy="4185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096"/>
              </a:lnSpc>
              <a:buNone/>
            </a:pPr>
            <a:r>
              <a:rPr lang="en-US" sz="2400" b="1" dirty="0">
                <a:solidFill>
                  <a:srgbClr val="087EA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setter</a:t>
            </a:r>
            <a:endParaRPr lang="en-US" sz="2400" dirty="0"/>
          </a:p>
        </p:txBody>
      </p:sp>
      <p:pic>
        <p:nvPicPr>
          <p:cNvPr id="5" name="Image 0" descr="connector">    </p:cNvPr>
          <p:cNvPicPr>
            <a:picLocks noChangeAspect="1"/>
          </p:cNvPicPr>
          <p:nvPr/>
        </p:nvPicPr>
        <p:blipFill>
          <a:blip r:embed="rId1"/>
          <a:srcRect l="-4" r="-4" t="0" b="0"/>
          <a:stretch/>
        </p:blipFill>
        <p:spPr>
          <a:xfrm>
            <a:off x="4997423" y="2590781"/>
            <a:ext cx="127000" cy="41906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12782" y="2984500"/>
            <a:ext cx="9017000" cy="1143000"/>
          </a:xfrm>
          <a:prstGeom prst="roundRect">
            <a:avLst>
              <a:gd name="adj" fmla="val 11111"/>
            </a:avLst>
          </a:prstGeom>
          <a:solidFill>
            <a:srgbClr val="1E293B"/>
          </a:solidFill>
          <a:ln/>
        </p:spPr>
      </p:sp>
      <p:sp>
        <p:nvSpPr>
          <p:cNvPr id="7" name="Shape 4"/>
          <p:cNvSpPr/>
          <p:nvPr/>
        </p:nvSpPr>
        <p:spPr>
          <a:xfrm>
            <a:off x="831832" y="3289281"/>
            <a:ext cx="0" cy="533391"/>
          </a:xfrm>
          <a:prstGeom prst="line">
            <a:avLst/>
          </a:prstGeom>
          <a:noFill/>
          <a:ln w="38100">
            <a:solidFill>
              <a:srgbClr val="087EA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218605" y="3289281"/>
            <a:ext cx="8450929" cy="5587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2800" dirty="0">
                <a:solidFill>
                  <a:srgbClr val="C792E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const</a:t>
            </a:r>
            <a:r>
              <a:rPr lang="en-US" sz="28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[</a:t>
            </a:r>
            <a:r>
              <a:rPr lang="en-US" sz="2800" dirty="0">
                <a:solidFill>
                  <a:srgbClr val="7DD3F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count</a:t>
            </a:r>
            <a:r>
              <a:rPr lang="en-US" sz="28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, </a:t>
            </a:r>
            <a:r>
              <a:rPr lang="en-US" sz="2800" dirty="0">
                <a:solidFill>
                  <a:srgbClr val="FFCB6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setCount</a:t>
            </a:r>
            <a:r>
              <a:rPr lang="en-US" sz="28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] = </a:t>
            </a:r>
            <a:r>
              <a:rPr lang="en-US" sz="2800" dirty="0">
                <a:solidFill>
                  <a:srgbClr val="82AA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useState</a:t>
            </a:r>
            <a:r>
              <a:rPr lang="en-US" sz="28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(</a:t>
            </a:r>
            <a:r>
              <a:rPr lang="en-US" sz="2800" dirty="0">
                <a:solidFill>
                  <a:srgbClr val="F78C6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</a:t>
            </a:r>
            <a:r>
              <a:rPr lang="en-US" sz="28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);</a:t>
            </a:r>
            <a:endParaRPr lang="en-US" sz="2800" dirty="0"/>
          </a:p>
        </p:txBody>
      </p:sp>
      <p:pic>
        <p:nvPicPr>
          <p:cNvPr id="9" name="Image 1" descr="connector">    </p:cNvPr>
          <p:cNvPicPr>
            <a:picLocks noChangeAspect="1"/>
          </p:cNvPicPr>
          <p:nvPr/>
        </p:nvPicPr>
        <p:blipFill>
          <a:blip r:embed="rId2"/>
          <a:srcRect l="-3" r="-3" t="0" b="0"/>
          <a:stretch/>
        </p:blipFill>
        <p:spPr>
          <a:xfrm>
            <a:off x="3181314" y="4102064"/>
            <a:ext cx="127000" cy="546064"/>
          </a:xfrm>
          <a:prstGeom prst="rect">
            <a:avLst/>
          </a:prstGeom>
        </p:spPr>
      </p:pic>
      <p:pic>
        <p:nvPicPr>
          <p:cNvPr id="10" name="Image 2" descr="connector">    </p:cNvPr>
          <p:cNvPicPr>
            <a:picLocks noChangeAspect="1"/>
          </p:cNvPicPr>
          <p:nvPr/>
        </p:nvPicPr>
        <p:blipFill>
          <a:blip r:embed="rId3"/>
          <a:srcRect l="-3" r="-3" t="0" b="0"/>
          <a:stretch/>
        </p:blipFill>
        <p:spPr>
          <a:xfrm>
            <a:off x="8731250" y="4102064"/>
            <a:ext cx="127000" cy="54606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805904" y="4622781"/>
            <a:ext cx="2877820" cy="4185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096"/>
              </a:lnSpc>
              <a:buNone/>
            </a:pPr>
            <a:r>
              <a:rPr lang="en-US" sz="2400" b="1" dirty="0">
                <a:solidFill>
                  <a:srgbClr val="087EA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 value</a:t>
            </a:r>
            <a:endParaRPr lang="en-US" sz="2400" dirty="0"/>
          </a:p>
        </p:txBody>
      </p:sp>
      <p:sp>
        <p:nvSpPr>
          <p:cNvPr id="12" name="Text 7"/>
          <p:cNvSpPr/>
          <p:nvPr/>
        </p:nvSpPr>
        <p:spPr>
          <a:xfrm>
            <a:off x="7290435" y="4622781"/>
            <a:ext cx="3008630" cy="4185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096"/>
              </a:lnSpc>
              <a:buNone/>
            </a:pPr>
            <a:r>
              <a:rPr lang="en-US" sz="2400" b="1" dirty="0">
                <a:solidFill>
                  <a:srgbClr val="087EA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starting value</a:t>
            </a:r>
            <a:endParaRPr lang="en-US" sz="2400" dirty="0"/>
          </a:p>
        </p:txBody>
      </p:sp>
      <p:sp>
        <p:nvSpPr>
          <p:cNvPr id="13" name="Text 8"/>
          <p:cNvSpPr/>
          <p:nvPr/>
        </p:nvSpPr>
        <p:spPr>
          <a:xfrm>
            <a:off x="812782" y="406391"/>
            <a:ext cx="3924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50" kern="0" dirty="0">
                <a:solidFill>
                  <a:srgbClr val="087EA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 · Lecture 3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10058418" y="6238289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782" y="812781"/>
            <a:ext cx="10883429" cy="5841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000" b="1" i="0" spc="-50" kern="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update loop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12782" y="1498563"/>
            <a:ext cx="10883429" cy="454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80"/>
              </a:lnSpc>
              <a:buNone/>
            </a:pPr>
            <a:r>
              <a:rPr lang="en-US" sz="26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Click → setState → re-render → new screen</a:t>
            </a:r>
            <a:endParaRPr lang="en-US" sz="2600" dirty="0"/>
          </a:p>
        </p:txBody>
      </p:sp>
      <p:pic>
        <p:nvPicPr>
          <p:cNvPr id="4" name="Image 0" descr="A circle of four steps: click, setState, re-render, new screen, then back to click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810000" y="2667000"/>
            <a:ext cx="4572000" cy="3048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936723" y="3003531"/>
            <a:ext cx="2616200" cy="4810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3588"/>
              </a:lnSpc>
              <a:buNone/>
            </a:pPr>
            <a:r>
              <a:rPr lang="en-US" sz="2600" b="1" dirty="0">
                <a:solidFill>
                  <a:srgbClr val="087EA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r>
              <a:rPr lang="en-US" sz="26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Click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7639031" y="3003531"/>
            <a:ext cx="2877820" cy="4810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88"/>
              </a:lnSpc>
              <a:buNone/>
            </a:pPr>
            <a:r>
              <a:rPr lang="en-US" sz="2600" b="1" dirty="0">
                <a:solidFill>
                  <a:srgbClr val="087EA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r>
              <a:rPr lang="en-US" sz="26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setState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7639031" y="4794250"/>
            <a:ext cx="2877820" cy="4810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88"/>
              </a:lnSpc>
              <a:buNone/>
            </a:pPr>
            <a:r>
              <a:rPr lang="en-US" sz="2600" b="1" dirty="0">
                <a:solidFill>
                  <a:srgbClr val="087EA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r>
              <a:rPr lang="en-US" sz="26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re-render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1936723" y="4794250"/>
            <a:ext cx="2616200" cy="4810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3588"/>
              </a:lnSpc>
              <a:buNone/>
            </a:pPr>
            <a:r>
              <a:rPr lang="en-US" sz="2600" b="1" dirty="0">
                <a:solidFill>
                  <a:srgbClr val="087EA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r>
              <a:rPr lang="en-US" sz="26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new screen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812782" y="406391"/>
            <a:ext cx="3924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50" kern="0" dirty="0">
                <a:solidFill>
                  <a:srgbClr val="087EA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 · Lecture 3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058418" y="6238287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782" y="812781"/>
            <a:ext cx="10883429" cy="5841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000" b="1" i="0" spc="-50" kern="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Handling events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12782" y="1498563"/>
            <a:ext cx="10883429" cy="454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80"/>
              </a:lnSpc>
              <a:buNone/>
            </a:pPr>
            <a:r>
              <a:rPr lang="en-US" sz="26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Like addEventListener, written in JSX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12782" y="2283383"/>
            <a:ext cx="8255000" cy="2793865"/>
          </a:xfrm>
          <a:prstGeom prst="roundRect">
            <a:avLst>
              <a:gd name="adj" fmla="val 4546"/>
            </a:avLst>
          </a:prstGeom>
          <a:solidFill>
            <a:srgbClr val="1E293B"/>
          </a:solidFill>
          <a:ln/>
        </p:spPr>
      </p:sp>
      <p:sp>
        <p:nvSpPr>
          <p:cNvPr id="5" name="Shape 3"/>
          <p:cNvSpPr/>
          <p:nvPr/>
        </p:nvSpPr>
        <p:spPr>
          <a:xfrm>
            <a:off x="831832" y="2537383"/>
            <a:ext cx="0" cy="457173"/>
          </a:xfrm>
          <a:prstGeom prst="line">
            <a:avLst/>
          </a:prstGeom>
          <a:noFill/>
          <a:ln w="38100">
            <a:solidFill>
              <a:srgbClr val="1E2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7005" y="2537383"/>
            <a:ext cx="7875375" cy="4825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C792E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function</a:t>
            </a:r>
            <a:r>
              <a:rPr lang="en-US" sz="24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</a:t>
            </a:r>
            <a:r>
              <a:rPr lang="en-US" sz="2400" dirty="0">
                <a:solidFill>
                  <a:srgbClr val="82AA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handleClick</a:t>
            </a:r>
            <a:r>
              <a:rPr lang="en-US" sz="24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() {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831832" y="2994557"/>
            <a:ext cx="0" cy="457173"/>
          </a:xfrm>
          <a:prstGeom prst="line">
            <a:avLst/>
          </a:prstGeom>
          <a:noFill/>
          <a:ln w="38100">
            <a:solidFill>
              <a:srgbClr val="1E29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7005" y="2994557"/>
            <a:ext cx="7875375" cy="4825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2400" dirty="0">
                <a:solidFill>
                  <a:srgbClr val="82AA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setCount</a:t>
            </a:r>
            <a:r>
              <a:rPr lang="en-US" sz="24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(count + </a:t>
            </a:r>
            <a:r>
              <a:rPr lang="en-US" sz="2400" dirty="0">
                <a:solidFill>
                  <a:srgbClr val="F78C6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</a:t>
            </a:r>
            <a:r>
              <a:rPr lang="en-US" sz="24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);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831832" y="3451729"/>
            <a:ext cx="0" cy="457173"/>
          </a:xfrm>
          <a:prstGeom prst="line">
            <a:avLst/>
          </a:prstGeom>
          <a:noFill/>
          <a:ln w="38100">
            <a:solidFill>
              <a:srgbClr val="1E29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7005" y="3451729"/>
            <a:ext cx="7875375" cy="4825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831832" y="3908902"/>
            <a:ext cx="0" cy="457173"/>
          </a:xfrm>
          <a:prstGeom prst="line">
            <a:avLst/>
          </a:prstGeom>
          <a:noFill/>
          <a:ln w="38100">
            <a:solidFill>
              <a:srgbClr val="1E293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31832" y="4366075"/>
            <a:ext cx="0" cy="457173"/>
          </a:xfrm>
          <a:prstGeom prst="line">
            <a:avLst/>
          </a:prstGeom>
          <a:noFill/>
          <a:ln w="38100">
            <a:solidFill>
              <a:srgbClr val="087EA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17005" y="4366075"/>
            <a:ext cx="7875375" cy="4825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7DD3F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&lt;button</a:t>
            </a:r>
            <a:r>
              <a:rPr lang="en-US" sz="24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</a:t>
            </a:r>
            <a:r>
              <a:rPr lang="en-US" sz="2400" dirty="0">
                <a:solidFill>
                  <a:srgbClr val="FFCB6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onClick</a:t>
            </a:r>
            <a:r>
              <a:rPr lang="en-US" sz="24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={</a:t>
            </a:r>
            <a:r>
              <a:rPr lang="en-US" sz="2400" dirty="0">
                <a:solidFill>
                  <a:srgbClr val="82AA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handleClick</a:t>
            </a:r>
            <a:r>
              <a:rPr lang="en-US" sz="24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r>
              <a:rPr lang="en-US" sz="2400" dirty="0">
                <a:solidFill>
                  <a:srgbClr val="7DD3F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&gt;</a:t>
            </a:r>
            <a:r>
              <a:rPr lang="en-US" sz="24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+1</a:t>
            </a:r>
            <a:r>
              <a:rPr lang="en-US" sz="2400" dirty="0">
                <a:solidFill>
                  <a:srgbClr val="7DD3F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&lt;/button&gt;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12782" y="406391"/>
            <a:ext cx="3924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50" kern="0" dirty="0">
                <a:solidFill>
                  <a:srgbClr val="087EA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 · Lecture 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58418" y="6238289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782" y="812781"/>
            <a:ext cx="10883429" cy="5841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000" b="1" i="0" spc="-50" kern="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Pass it, don't call it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812782" y="1727126"/>
            <a:ext cx="5130827" cy="3363561"/>
          </a:xfrm>
          <a:prstGeom prst="roundRect">
            <a:avLst>
              <a:gd name="adj" fmla="val 3776"/>
            </a:avLst>
          </a:prstGeom>
          <a:solidFill>
            <a:srgbClr val="FEF2F2"/>
          </a:solidFill>
          <a:ln/>
        </p:spPr>
      </p:sp>
      <p:sp>
        <p:nvSpPr>
          <p:cNvPr id="4" name="Shape 2"/>
          <p:cNvSpPr/>
          <p:nvPr/>
        </p:nvSpPr>
        <p:spPr>
          <a:xfrm>
            <a:off x="812782" y="1727126"/>
            <a:ext cx="5130827" cy="3363561"/>
          </a:xfrm>
          <a:custGeom>
            <a:avLst/>
            <a:gdLst/>
            <a:ahLst/>
            <a:cxnLst/>
            <a:rect l="l" t="t" r="r" b="b"/>
            <a:pathLst>
              <a:path w="5130827" h="3363561">
                <a:moveTo>
                  <a:pt x="0" y="127000"/>
                </a:moveTo>
                <a:lnTo>
                  <a:pt x="0" y="127000"/>
                </a:lnTo>
                <a:arcTo hR="127000" wR="127000" stAng="10800000" swAng="5400000"/>
                <a:lnTo>
                  <a:pt x="5003827" y="0"/>
                </a:lnTo>
                <a:arcTo hR="127000" wR="127000" stAng="16200000" swAng="5400000"/>
                <a:lnTo>
                  <a:pt x="5130827" y="127000"/>
                </a:lnTo>
                <a:arcTo hR="76200" wR="127000" stAng="0" swAng="-5400000"/>
                <a:lnTo>
                  <a:pt x="127000" y="50800"/>
                </a:lnTo>
                <a:arcTo hR="76200" wR="127000" stAng="16200000" swAng="-5400000"/>
                <a:close/>
              </a:path>
            </a:pathLst>
          </a:custGeom>
          <a:solidFill>
            <a:srgbClr val="DC2626"/>
          </a:solidFill>
          <a:ln/>
        </p:spPr>
      </p:sp>
      <p:sp>
        <p:nvSpPr>
          <p:cNvPr id="5" name="Text 3"/>
          <p:cNvSpPr/>
          <p:nvPr/>
        </p:nvSpPr>
        <p:spPr>
          <a:xfrm>
            <a:off x="1066782" y="2030195"/>
            <a:ext cx="457173" cy="457173"/>
          </a:xfrm>
          <a:custGeom>
            <a:avLst/>
            <a:gdLst/>
            <a:ahLst/>
            <a:cxnLst/>
            <a:rect l="l" t="t" r="r" b="b"/>
            <a:pathLst>
              <a:path w="457173" h="457173">
                <a:moveTo>
                  <a:pt x="228586" y="0"/>
                </a:moveTo>
                <a:lnTo>
                  <a:pt x="228586" y="0"/>
                </a:lnTo>
                <a:arcTo hR="228586" wR="228586" stAng="16200000" swAng="5400000"/>
                <a:lnTo>
                  <a:pt x="457173" y="228586"/>
                </a:lnTo>
                <a:arcTo hR="228586" wR="228586" stAng="0" swAng="5400000"/>
                <a:lnTo>
                  <a:pt x="228586" y="457173"/>
                </a:lnTo>
                <a:arcTo hR="228586" wR="228586" stAng="5400000" swAng="5400000"/>
                <a:lnTo>
                  <a:pt x="0" y="228586"/>
                </a:lnTo>
                <a:arcTo hR="228586" wR="228586" stAng="10800000" swAng="5400000"/>
                <a:close/>
              </a:path>
            </a:pathLst>
          </a:custGeom>
          <a:solidFill>
            <a:srgbClr val="DC2626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608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✘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650955" y="2044129"/>
            <a:ext cx="3990975" cy="454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80"/>
              </a:lnSpc>
              <a:buNone/>
            </a:pPr>
            <a:r>
              <a:rPr lang="en-US" sz="26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runs on every render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1066782" y="2690540"/>
            <a:ext cx="4622827" cy="825410"/>
          </a:xfrm>
          <a:prstGeom prst="roundRect">
            <a:avLst>
              <a:gd name="adj" fmla="val 12309"/>
            </a:avLst>
          </a:prstGeom>
          <a:solidFill>
            <a:srgbClr val="1E293B"/>
          </a:solidFill>
          <a:ln/>
        </p:spPr>
      </p:sp>
      <p:sp>
        <p:nvSpPr>
          <p:cNvPr id="8" name="Shape 6"/>
          <p:cNvSpPr/>
          <p:nvPr/>
        </p:nvSpPr>
        <p:spPr>
          <a:xfrm>
            <a:off x="1085832" y="2893715"/>
            <a:ext cx="0" cy="419064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69405" y="2893715"/>
            <a:ext cx="4343542" cy="4444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200" dirty="0">
                <a:solidFill>
                  <a:srgbClr val="FFCB6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onClick</a:t>
            </a:r>
            <a:r>
              <a:rPr lang="en-US" sz="22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={</a:t>
            </a:r>
            <a:r>
              <a:rPr lang="en-US" sz="2200" dirty="0">
                <a:solidFill>
                  <a:srgbClr val="82AA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handleClick</a:t>
            </a:r>
            <a:r>
              <a:rPr lang="en-US" sz="2200" dirty="0">
                <a:solidFill>
                  <a:srgbClr val="F87171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()</a:t>
            </a:r>
            <a:r>
              <a:rPr lang="en-US" sz="22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6248391" y="1727126"/>
            <a:ext cx="5130827" cy="3363561"/>
          </a:xfrm>
          <a:prstGeom prst="roundRect">
            <a:avLst>
              <a:gd name="adj" fmla="val 3776"/>
            </a:avLst>
          </a:prstGeom>
          <a:solidFill>
            <a:srgbClr val="F0FDF4"/>
          </a:solidFill>
          <a:ln/>
        </p:spPr>
      </p:sp>
      <p:sp>
        <p:nvSpPr>
          <p:cNvPr id="11" name="Shape 9"/>
          <p:cNvSpPr/>
          <p:nvPr/>
        </p:nvSpPr>
        <p:spPr>
          <a:xfrm>
            <a:off x="6248391" y="1727126"/>
            <a:ext cx="5130827" cy="3363561"/>
          </a:xfrm>
          <a:custGeom>
            <a:avLst/>
            <a:gdLst/>
            <a:ahLst/>
            <a:cxnLst/>
            <a:rect l="l" t="t" r="r" b="b"/>
            <a:pathLst>
              <a:path w="5130827" h="3363561">
                <a:moveTo>
                  <a:pt x="0" y="127000"/>
                </a:moveTo>
                <a:lnTo>
                  <a:pt x="0" y="127000"/>
                </a:lnTo>
                <a:arcTo hR="127000" wR="127000" stAng="10800000" swAng="5400000"/>
                <a:lnTo>
                  <a:pt x="5003827" y="0"/>
                </a:lnTo>
                <a:arcTo hR="127000" wR="127000" stAng="16200000" swAng="5400000"/>
                <a:lnTo>
                  <a:pt x="5130827" y="127000"/>
                </a:lnTo>
                <a:arcTo hR="76200" wR="127000" stAng="0" swAng="-5400000"/>
                <a:lnTo>
                  <a:pt x="127000" y="50800"/>
                </a:lnTo>
                <a:arcTo hR="76200" wR="127000" stAng="16200000" swAng="-5400000"/>
                <a:close/>
              </a:path>
            </a:pathLst>
          </a:custGeom>
          <a:solidFill>
            <a:srgbClr val="16A34A"/>
          </a:solidFill>
          <a:ln/>
        </p:spPr>
      </p:sp>
      <p:sp>
        <p:nvSpPr>
          <p:cNvPr id="12" name="Text 10"/>
          <p:cNvSpPr/>
          <p:nvPr/>
        </p:nvSpPr>
        <p:spPr>
          <a:xfrm>
            <a:off x="6502391" y="2030195"/>
            <a:ext cx="457173" cy="457173"/>
          </a:xfrm>
          <a:custGeom>
            <a:avLst/>
            <a:gdLst/>
            <a:ahLst/>
            <a:cxnLst/>
            <a:rect l="l" t="t" r="r" b="b"/>
            <a:pathLst>
              <a:path w="457173" h="457173">
                <a:moveTo>
                  <a:pt x="228586" y="0"/>
                </a:moveTo>
                <a:lnTo>
                  <a:pt x="228586" y="0"/>
                </a:lnTo>
                <a:arcTo hR="228586" wR="228586" stAng="16200000" swAng="5400000"/>
                <a:lnTo>
                  <a:pt x="457173" y="228586"/>
                </a:lnTo>
                <a:arcTo hR="228586" wR="228586" stAng="0" swAng="5400000"/>
                <a:lnTo>
                  <a:pt x="228586" y="457173"/>
                </a:lnTo>
                <a:arcTo hR="228586" wR="228586" stAng="5400000" swAng="5400000"/>
                <a:lnTo>
                  <a:pt x="0" y="228586"/>
                </a:lnTo>
                <a:arcTo hR="228586" wR="228586" stAng="10800000" swAng="5400000"/>
                <a:close/>
              </a:path>
            </a:pathLst>
          </a:custGeom>
          <a:solidFill>
            <a:srgbClr val="16A34A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608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086564" y="2044129"/>
            <a:ext cx="2438021" cy="454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80"/>
              </a:lnSpc>
              <a:buNone/>
            </a:pPr>
            <a:r>
              <a:rPr lang="en-US" sz="26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runs on click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6502391" y="2690540"/>
            <a:ext cx="4622827" cy="825410"/>
          </a:xfrm>
          <a:prstGeom prst="roundRect">
            <a:avLst>
              <a:gd name="adj" fmla="val 12309"/>
            </a:avLst>
          </a:prstGeom>
          <a:solidFill>
            <a:srgbClr val="1E293B"/>
          </a:solidFill>
          <a:ln/>
        </p:spPr>
      </p:sp>
      <p:sp>
        <p:nvSpPr>
          <p:cNvPr id="15" name="Shape 13"/>
          <p:cNvSpPr/>
          <p:nvPr/>
        </p:nvSpPr>
        <p:spPr>
          <a:xfrm>
            <a:off x="6521441" y="2893715"/>
            <a:ext cx="0" cy="419064"/>
          </a:xfrm>
          <a:prstGeom prst="line">
            <a:avLst/>
          </a:prstGeom>
          <a:noFill/>
          <a:ln w="3810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05013" y="2893715"/>
            <a:ext cx="4343542" cy="4444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200" dirty="0">
                <a:solidFill>
                  <a:srgbClr val="FFCB6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onClick</a:t>
            </a:r>
            <a:r>
              <a:rPr lang="en-US" sz="22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={</a:t>
            </a:r>
            <a:r>
              <a:rPr lang="en-US" sz="2200" dirty="0">
                <a:solidFill>
                  <a:srgbClr val="82AA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handleClick</a:t>
            </a:r>
            <a:r>
              <a:rPr lang="en-US" sz="22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502391" y="3719125"/>
            <a:ext cx="4622827" cy="1117564"/>
          </a:xfrm>
          <a:prstGeom prst="roundRect">
            <a:avLst>
              <a:gd name="adj" fmla="val 9091"/>
            </a:avLst>
          </a:prstGeom>
          <a:solidFill>
            <a:srgbClr val="1E293B"/>
          </a:solidFill>
          <a:ln/>
        </p:spPr>
      </p:sp>
      <p:sp>
        <p:nvSpPr>
          <p:cNvPr id="18" name="Shape 16"/>
          <p:cNvSpPr/>
          <p:nvPr/>
        </p:nvSpPr>
        <p:spPr>
          <a:xfrm>
            <a:off x="6521441" y="3896906"/>
            <a:ext cx="0" cy="381000"/>
          </a:xfrm>
          <a:prstGeom prst="line">
            <a:avLst/>
          </a:prstGeom>
          <a:noFill/>
          <a:ln w="38100">
            <a:solidFill>
              <a:srgbClr val="1E29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05013" y="3896906"/>
            <a:ext cx="4343542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000" dirty="0">
                <a:solidFill>
                  <a:srgbClr val="94A3B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// to pass an argument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521441" y="4277906"/>
            <a:ext cx="0" cy="381000"/>
          </a:xfrm>
          <a:prstGeom prst="line">
            <a:avLst/>
          </a:prstGeom>
          <a:noFill/>
          <a:ln w="38100">
            <a:solidFill>
              <a:srgbClr val="16A3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05013" y="4277906"/>
            <a:ext cx="4343542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000" dirty="0">
                <a:solidFill>
                  <a:srgbClr val="FFCB6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onClick</a:t>
            </a: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={() =&gt; </a:t>
            </a:r>
            <a:r>
              <a:rPr lang="en-US" sz="2000" dirty="0">
                <a:solidFill>
                  <a:srgbClr val="82AA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remove</a:t>
            </a: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(id)}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12782" y="406391"/>
            <a:ext cx="3924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50" kern="0" dirty="0">
                <a:solidFill>
                  <a:srgbClr val="087EA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 · Lecture 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058418" y="6238289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782" y="812781"/>
            <a:ext cx="10883429" cy="5841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000" b="1" i="0" spc="-50" kern="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Controlled input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12782" y="1498563"/>
            <a:ext cx="10883429" cy="454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80"/>
              </a:lnSpc>
              <a:buNone/>
            </a:pPr>
            <a:r>
              <a:rPr lang="en-US" sz="26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 holds the input's value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12782" y="2397665"/>
            <a:ext cx="6858000" cy="2794000"/>
          </a:xfrm>
          <a:prstGeom prst="roundRect">
            <a:avLst>
              <a:gd name="adj" fmla="val 4545"/>
            </a:avLst>
          </a:prstGeom>
          <a:solidFill>
            <a:srgbClr val="1E293B"/>
          </a:solidFill>
          <a:ln/>
        </p:spPr>
      </p:sp>
      <p:sp>
        <p:nvSpPr>
          <p:cNvPr id="5" name="Shape 3"/>
          <p:cNvSpPr/>
          <p:nvPr/>
        </p:nvSpPr>
        <p:spPr>
          <a:xfrm>
            <a:off x="831832" y="2651665"/>
            <a:ext cx="0" cy="381000"/>
          </a:xfrm>
          <a:prstGeom prst="line">
            <a:avLst/>
          </a:prstGeom>
          <a:noFill/>
          <a:ln w="38100">
            <a:solidFill>
              <a:srgbClr val="1E2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7005" y="2651665"/>
            <a:ext cx="6436465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000" dirty="0">
                <a:solidFill>
                  <a:srgbClr val="C792E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const</a:t>
            </a: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[text, </a:t>
            </a:r>
            <a:r>
              <a:rPr lang="en-US" sz="2000" dirty="0">
                <a:solidFill>
                  <a:srgbClr val="82AA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setText</a:t>
            </a: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] = </a:t>
            </a:r>
            <a:r>
              <a:rPr lang="en-US" sz="2000" dirty="0">
                <a:solidFill>
                  <a:srgbClr val="82AA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useState</a:t>
            </a: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(</a:t>
            </a:r>
            <a:r>
              <a:rPr lang="en-US" sz="2000" dirty="0">
                <a:solidFill>
                  <a:srgbClr val="C3E88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''</a:t>
            </a: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);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31832" y="3032665"/>
            <a:ext cx="0" cy="381000"/>
          </a:xfrm>
          <a:prstGeom prst="line">
            <a:avLst/>
          </a:prstGeom>
          <a:noFill/>
          <a:ln w="38100">
            <a:solidFill>
              <a:srgbClr val="1E293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31832" y="3413665"/>
            <a:ext cx="0" cy="381000"/>
          </a:xfrm>
          <a:prstGeom prst="line">
            <a:avLst/>
          </a:prstGeom>
          <a:noFill/>
          <a:ln w="38100">
            <a:solidFill>
              <a:srgbClr val="1E29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7005" y="3413665"/>
            <a:ext cx="6436465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000" dirty="0">
                <a:solidFill>
                  <a:srgbClr val="7DD3F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&lt;input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831832" y="3794665"/>
            <a:ext cx="0" cy="381000"/>
          </a:xfrm>
          <a:prstGeom prst="line">
            <a:avLst/>
          </a:prstGeom>
          <a:noFill/>
          <a:ln w="38100">
            <a:solidFill>
              <a:srgbClr val="087EA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17005" y="3794665"/>
            <a:ext cx="6436465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2000" dirty="0">
                <a:solidFill>
                  <a:srgbClr val="FFCB6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value</a:t>
            </a: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={text}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831832" y="4175665"/>
            <a:ext cx="0" cy="381000"/>
          </a:xfrm>
          <a:prstGeom prst="line">
            <a:avLst/>
          </a:prstGeom>
          <a:noFill/>
          <a:ln w="38100">
            <a:solidFill>
              <a:srgbClr val="1E29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17005" y="4175665"/>
            <a:ext cx="6436465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2000" dirty="0">
                <a:solidFill>
                  <a:srgbClr val="FFCB6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onChange</a:t>
            </a: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={e =&gt; </a:t>
            </a:r>
            <a:r>
              <a:rPr lang="en-US" sz="2000" dirty="0">
                <a:solidFill>
                  <a:srgbClr val="82AA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setText</a:t>
            </a: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(e.target.value)}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831832" y="4556665"/>
            <a:ext cx="0" cy="381000"/>
          </a:xfrm>
          <a:prstGeom prst="line">
            <a:avLst/>
          </a:prstGeom>
          <a:noFill/>
          <a:ln w="38100">
            <a:solidFill>
              <a:srgbClr val="1E29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17005" y="4556665"/>
            <a:ext cx="6436465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000" dirty="0">
                <a:solidFill>
                  <a:srgbClr val="7DD3F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/&gt;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331173" y="2283383"/>
            <a:ext cx="1962150" cy="3555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47556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&lt;input&gt;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8340698" y="2699299"/>
            <a:ext cx="2774950" cy="679450"/>
          </a:xfrm>
          <a:prstGeom prst="roundRect">
            <a:avLst>
              <a:gd name="adj" fmla="val 13551"/>
            </a:avLst>
          </a:prstGeom>
          <a:solidFill>
            <a:srgbClr val="FFFFFF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51664" y="2856145"/>
            <a:ext cx="632718" cy="391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milk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9158973" y="2861242"/>
            <a:ext cx="25391" cy="355564"/>
          </a:xfrm>
          <a:prstGeom prst="rect">
            <a:avLst/>
          </a:prstGeom>
          <a:solidFill>
            <a:srgbClr val="087EA4"/>
          </a:solidFill>
          <a:ln/>
        </p:spPr>
      </p:sp>
      <p:pic>
        <p:nvPicPr>
          <p:cNvPr id="20" name="Image 0" descr="connector">    </p:cNvPr>
          <p:cNvPicPr>
            <a:picLocks noChangeAspect="1"/>
          </p:cNvPicPr>
          <p:nvPr/>
        </p:nvPicPr>
        <p:blipFill>
          <a:blip r:embed="rId1"/>
          <a:srcRect l="-1" r="-1" t="0" b="0"/>
          <a:stretch/>
        </p:blipFill>
        <p:spPr>
          <a:xfrm>
            <a:off x="9359846" y="3337446"/>
            <a:ext cx="127000" cy="876282"/>
          </a:xfrm>
          <a:prstGeom prst="rect">
            <a:avLst/>
          </a:prstGeom>
        </p:spPr>
      </p:pic>
      <p:pic>
        <p:nvPicPr>
          <p:cNvPr id="21" name="Image 1" descr="connector">    </p:cNvPr>
          <p:cNvPicPr>
            <a:picLocks noChangeAspect="1"/>
          </p:cNvPicPr>
          <p:nvPr/>
        </p:nvPicPr>
        <p:blipFill>
          <a:blip r:embed="rId2"/>
          <a:srcRect l="-1" r="-1" t="0" b="0"/>
          <a:stretch/>
        </p:blipFill>
        <p:spPr>
          <a:xfrm>
            <a:off x="9867846" y="3362883"/>
            <a:ext cx="127000" cy="850891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7828260" y="3597805"/>
            <a:ext cx="1493477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3000"/>
              </a:lnSpc>
              <a:buNone/>
            </a:pPr>
            <a:r>
              <a:rPr lang="en-US" sz="2000" dirty="0">
                <a:solidFill>
                  <a:srgbClr val="087EA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onChange</a:t>
            </a:r>
            <a:endParaRPr lang="en-US" sz="2000" dirty="0"/>
          </a:p>
        </p:txBody>
      </p:sp>
      <p:sp>
        <p:nvSpPr>
          <p:cNvPr id="23" name="Text 19"/>
          <p:cNvSpPr/>
          <p:nvPr/>
        </p:nvSpPr>
        <p:spPr>
          <a:xfrm>
            <a:off x="10058346" y="3597805"/>
            <a:ext cx="13208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000" dirty="0">
                <a:solidFill>
                  <a:srgbClr val="087EA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value</a:t>
            </a:r>
            <a:endParaRPr lang="en-US" sz="2000" dirty="0"/>
          </a:p>
        </p:txBody>
      </p:sp>
      <p:sp>
        <p:nvSpPr>
          <p:cNvPr id="24" name="Text 20"/>
          <p:cNvSpPr/>
          <p:nvPr/>
        </p:nvSpPr>
        <p:spPr>
          <a:xfrm>
            <a:off x="8340698" y="4197908"/>
            <a:ext cx="2774950" cy="679450"/>
          </a:xfrm>
          <a:prstGeom prst="roundRect">
            <a:avLst>
              <a:gd name="adj" fmla="val 13551"/>
            </a:avLst>
          </a:prstGeom>
          <a:solidFill>
            <a:srgbClr val="E6F4F9"/>
          </a:solidFill>
          <a:ln w="19050">
            <a:solidFill>
              <a:srgbClr val="087EA4"/>
            </a:solidFill>
            <a:prstDash val="solid"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0F172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text: "milk"</a:t>
            </a:r>
            <a:endParaRPr lang="en-US" sz="2000" dirty="0"/>
          </a:p>
        </p:txBody>
      </p:sp>
      <p:sp>
        <p:nvSpPr>
          <p:cNvPr id="25" name="Text 21"/>
          <p:cNvSpPr/>
          <p:nvPr/>
        </p:nvSpPr>
        <p:spPr>
          <a:xfrm>
            <a:off x="8331173" y="4950383"/>
            <a:ext cx="1962150" cy="3555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47556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state</a:t>
            </a:r>
            <a:endParaRPr lang="en-US" sz="2000" dirty="0"/>
          </a:p>
        </p:txBody>
      </p:sp>
      <p:sp>
        <p:nvSpPr>
          <p:cNvPr id="26" name="Text 22"/>
          <p:cNvSpPr/>
          <p:nvPr/>
        </p:nvSpPr>
        <p:spPr>
          <a:xfrm>
            <a:off x="812782" y="406391"/>
            <a:ext cx="3924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50" kern="0" dirty="0">
                <a:solidFill>
                  <a:srgbClr val="087EA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 · Lecture 3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10058418" y="6238286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782" y="812781"/>
            <a:ext cx="10883429" cy="5841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000" b="1" i="0" spc="-50" kern="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Never mutate state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12782" y="1498563"/>
            <a:ext cx="10883429" cy="454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80"/>
              </a:lnSpc>
              <a:buNone/>
            </a:pPr>
            <a:r>
              <a:rPr lang="en-US" sz="26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Make a new array. Don't change the old one.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12782" y="2283383"/>
            <a:ext cx="5130827" cy="3441267"/>
          </a:xfrm>
          <a:prstGeom prst="roundRect">
            <a:avLst>
              <a:gd name="adj" fmla="val 3691"/>
            </a:avLst>
          </a:prstGeom>
          <a:solidFill>
            <a:srgbClr val="FEF2F2"/>
          </a:solidFill>
          <a:ln/>
        </p:spPr>
      </p:sp>
      <p:sp>
        <p:nvSpPr>
          <p:cNvPr id="5" name="Shape 3"/>
          <p:cNvSpPr/>
          <p:nvPr/>
        </p:nvSpPr>
        <p:spPr>
          <a:xfrm>
            <a:off x="812782" y="2283383"/>
            <a:ext cx="5130827" cy="3441267"/>
          </a:xfrm>
          <a:custGeom>
            <a:avLst/>
            <a:gdLst/>
            <a:ahLst/>
            <a:cxnLst/>
            <a:rect l="l" t="t" r="r" b="b"/>
            <a:pathLst>
              <a:path w="5130827" h="3441267">
                <a:moveTo>
                  <a:pt x="0" y="127000"/>
                </a:moveTo>
                <a:lnTo>
                  <a:pt x="0" y="127000"/>
                </a:lnTo>
                <a:arcTo hR="127000" wR="127000" stAng="10800000" swAng="5400000"/>
                <a:lnTo>
                  <a:pt x="5003827" y="0"/>
                </a:lnTo>
                <a:arcTo hR="127000" wR="127000" stAng="16200000" swAng="5400000"/>
                <a:lnTo>
                  <a:pt x="5130827" y="127000"/>
                </a:lnTo>
                <a:arcTo hR="76200" wR="127000" stAng="0" swAng="-5400000"/>
                <a:lnTo>
                  <a:pt x="127000" y="50800"/>
                </a:lnTo>
                <a:arcTo hR="76200" wR="127000" stAng="16200000" swAng="-5400000"/>
                <a:close/>
              </a:path>
            </a:pathLst>
          </a:custGeom>
          <a:solidFill>
            <a:srgbClr val="DC2626"/>
          </a:solidFill>
          <a:ln/>
        </p:spPr>
      </p:sp>
      <p:sp>
        <p:nvSpPr>
          <p:cNvPr id="6" name="Text 4"/>
          <p:cNvSpPr/>
          <p:nvPr/>
        </p:nvSpPr>
        <p:spPr>
          <a:xfrm>
            <a:off x="1041346" y="2561016"/>
            <a:ext cx="457173" cy="457173"/>
          </a:xfrm>
          <a:custGeom>
            <a:avLst/>
            <a:gdLst/>
            <a:ahLst/>
            <a:cxnLst/>
            <a:rect l="l" t="t" r="r" b="b"/>
            <a:pathLst>
              <a:path w="457173" h="457173">
                <a:moveTo>
                  <a:pt x="228586" y="0"/>
                </a:moveTo>
                <a:lnTo>
                  <a:pt x="228586" y="0"/>
                </a:lnTo>
                <a:arcTo hR="228586" wR="228586" stAng="16200000" swAng="5400000"/>
                <a:lnTo>
                  <a:pt x="457173" y="228586"/>
                </a:lnTo>
                <a:arcTo hR="228586" wR="228586" stAng="0" swAng="5400000"/>
                <a:lnTo>
                  <a:pt x="228586" y="457173"/>
                </a:lnTo>
                <a:arcTo hR="228586" wR="228586" stAng="5400000" swAng="5400000"/>
                <a:lnTo>
                  <a:pt x="0" y="228586"/>
                </a:lnTo>
                <a:arcTo hR="228586" wR="228586" stAng="10800000" swAng="5400000"/>
                <a:close/>
              </a:path>
            </a:pathLst>
          </a:custGeom>
          <a:solidFill>
            <a:srgbClr val="DC2626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608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✘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041346" y="3195969"/>
            <a:ext cx="4673699" cy="1188641"/>
          </a:xfrm>
          <a:prstGeom prst="roundRect">
            <a:avLst>
              <a:gd name="adj" fmla="val 8548"/>
            </a:avLst>
          </a:prstGeom>
          <a:solidFill>
            <a:srgbClr val="1E293B"/>
          </a:solidFill>
          <a:ln/>
        </p:spPr>
      </p:sp>
      <p:sp>
        <p:nvSpPr>
          <p:cNvPr id="8" name="Shape 6"/>
          <p:cNvSpPr/>
          <p:nvPr/>
        </p:nvSpPr>
        <p:spPr>
          <a:xfrm>
            <a:off x="1060396" y="3399141"/>
            <a:ext cx="0" cy="391147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43969" y="3399141"/>
            <a:ext cx="4395940" cy="4165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items.</a:t>
            </a:r>
            <a:r>
              <a:rPr lang="en-US" sz="2200" dirty="0">
                <a:solidFill>
                  <a:srgbClr val="82AA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push</a:t>
            </a:r>
            <a:r>
              <a:rPr lang="en-US" sz="22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(newItem);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1060396" y="3790290"/>
            <a:ext cx="0" cy="391147"/>
          </a:xfrm>
          <a:prstGeom prst="line">
            <a:avLst/>
          </a:prstGeom>
          <a:noFill/>
          <a:ln w="381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43969" y="3790290"/>
            <a:ext cx="4395940" cy="4165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82AA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setItems</a:t>
            </a:r>
            <a:r>
              <a:rPr lang="en-US" sz="22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(items);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1050871" y="4571916"/>
            <a:ext cx="1386970" cy="523496"/>
          </a:xfrm>
          <a:prstGeom prst="roundRect">
            <a:avLst>
              <a:gd name="adj" fmla="val 17588"/>
            </a:avLst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34837" y="4655883"/>
            <a:ext cx="355564" cy="355564"/>
          </a:xfrm>
          <a:prstGeom prst="roundRect">
            <a:avLst>
              <a:gd name="adj" fmla="val 17859"/>
            </a:avLst>
          </a:prstGeom>
          <a:solidFill>
            <a:srgbClr val="CBD5E1"/>
          </a:solidFill>
          <a:ln/>
        </p:spPr>
      </p:sp>
      <p:sp>
        <p:nvSpPr>
          <p:cNvPr id="14" name="Shape 12"/>
          <p:cNvSpPr/>
          <p:nvPr/>
        </p:nvSpPr>
        <p:spPr>
          <a:xfrm>
            <a:off x="1566574" y="4655883"/>
            <a:ext cx="355564" cy="355564"/>
          </a:xfrm>
          <a:prstGeom prst="roundRect">
            <a:avLst>
              <a:gd name="adj" fmla="val 17859"/>
            </a:avLst>
          </a:prstGeom>
          <a:solidFill>
            <a:srgbClr val="CBD5E1"/>
          </a:solidFill>
          <a:ln/>
        </p:spPr>
      </p:sp>
      <p:sp>
        <p:nvSpPr>
          <p:cNvPr id="15" name="Shape 13"/>
          <p:cNvSpPr/>
          <p:nvPr/>
        </p:nvSpPr>
        <p:spPr>
          <a:xfrm>
            <a:off x="1998311" y="4655883"/>
            <a:ext cx="355564" cy="355564"/>
          </a:xfrm>
          <a:prstGeom prst="roundRect">
            <a:avLst>
              <a:gd name="adj" fmla="val 17859"/>
            </a:avLst>
          </a:prstGeom>
          <a:solidFill>
            <a:srgbClr val="F59E0B"/>
          </a:solidFill>
          <a:ln/>
        </p:spPr>
      </p:sp>
      <p:sp>
        <p:nvSpPr>
          <p:cNvPr id="16" name="Shape 14"/>
          <p:cNvSpPr/>
          <p:nvPr/>
        </p:nvSpPr>
        <p:spPr>
          <a:xfrm>
            <a:off x="6248391" y="2283383"/>
            <a:ext cx="5130827" cy="3441267"/>
          </a:xfrm>
          <a:prstGeom prst="roundRect">
            <a:avLst>
              <a:gd name="adj" fmla="val 3691"/>
            </a:avLst>
          </a:prstGeom>
          <a:solidFill>
            <a:srgbClr val="F0FDF4"/>
          </a:solidFill>
          <a:ln/>
        </p:spPr>
      </p:sp>
      <p:sp>
        <p:nvSpPr>
          <p:cNvPr id="17" name="Shape 15"/>
          <p:cNvSpPr/>
          <p:nvPr/>
        </p:nvSpPr>
        <p:spPr>
          <a:xfrm>
            <a:off x="6248391" y="2283383"/>
            <a:ext cx="5130827" cy="3441267"/>
          </a:xfrm>
          <a:custGeom>
            <a:avLst/>
            <a:gdLst/>
            <a:ahLst/>
            <a:cxnLst/>
            <a:rect l="l" t="t" r="r" b="b"/>
            <a:pathLst>
              <a:path w="5130827" h="3441267">
                <a:moveTo>
                  <a:pt x="0" y="127000"/>
                </a:moveTo>
                <a:lnTo>
                  <a:pt x="0" y="127000"/>
                </a:lnTo>
                <a:arcTo hR="127000" wR="127000" stAng="10800000" swAng="5400000"/>
                <a:lnTo>
                  <a:pt x="5003827" y="0"/>
                </a:lnTo>
                <a:arcTo hR="127000" wR="127000" stAng="16200000" swAng="5400000"/>
                <a:lnTo>
                  <a:pt x="5130827" y="127000"/>
                </a:lnTo>
                <a:arcTo hR="76200" wR="127000" stAng="0" swAng="-5400000"/>
                <a:lnTo>
                  <a:pt x="127000" y="50800"/>
                </a:lnTo>
                <a:arcTo hR="76200" wR="127000" stAng="16200000" swAng="-5400000"/>
                <a:close/>
              </a:path>
            </a:pathLst>
          </a:custGeom>
          <a:solidFill>
            <a:srgbClr val="16A34A"/>
          </a:solidFill>
          <a:ln/>
        </p:spPr>
      </p:sp>
      <p:sp>
        <p:nvSpPr>
          <p:cNvPr id="18" name="Text 16"/>
          <p:cNvSpPr/>
          <p:nvPr/>
        </p:nvSpPr>
        <p:spPr>
          <a:xfrm>
            <a:off x="6476955" y="2561016"/>
            <a:ext cx="457173" cy="457173"/>
          </a:xfrm>
          <a:custGeom>
            <a:avLst/>
            <a:gdLst/>
            <a:ahLst/>
            <a:cxnLst/>
            <a:rect l="l" t="t" r="r" b="b"/>
            <a:pathLst>
              <a:path w="457173" h="457173">
                <a:moveTo>
                  <a:pt x="228586" y="0"/>
                </a:moveTo>
                <a:lnTo>
                  <a:pt x="228586" y="0"/>
                </a:lnTo>
                <a:arcTo hR="228586" wR="228586" stAng="16200000" swAng="5400000"/>
                <a:lnTo>
                  <a:pt x="457173" y="228586"/>
                </a:lnTo>
                <a:arcTo hR="228586" wR="228586" stAng="0" swAng="5400000"/>
                <a:lnTo>
                  <a:pt x="228586" y="457173"/>
                </a:lnTo>
                <a:arcTo hR="228586" wR="228586" stAng="5400000" swAng="5400000"/>
                <a:lnTo>
                  <a:pt x="0" y="228586"/>
                </a:lnTo>
                <a:arcTo hR="228586" wR="228586" stAng="10800000" swAng="5400000"/>
                <a:close/>
              </a:path>
            </a:pathLst>
          </a:custGeom>
          <a:solidFill>
            <a:srgbClr val="16A34A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608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✔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6476955" y="3195969"/>
            <a:ext cx="4673699" cy="1579788"/>
          </a:xfrm>
          <a:prstGeom prst="roundRect">
            <a:avLst>
              <a:gd name="adj" fmla="val 6431"/>
            </a:avLst>
          </a:prstGeom>
          <a:solidFill>
            <a:srgbClr val="1E293B"/>
          </a:solidFill>
          <a:ln/>
        </p:spPr>
      </p:sp>
      <p:sp>
        <p:nvSpPr>
          <p:cNvPr id="20" name="Shape 18"/>
          <p:cNvSpPr/>
          <p:nvPr/>
        </p:nvSpPr>
        <p:spPr>
          <a:xfrm>
            <a:off x="6496005" y="3399141"/>
            <a:ext cx="0" cy="391147"/>
          </a:xfrm>
          <a:prstGeom prst="line">
            <a:avLst/>
          </a:prstGeom>
          <a:noFill/>
          <a:ln w="38100">
            <a:solidFill>
              <a:srgbClr val="1E293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79577" y="3399141"/>
            <a:ext cx="4395940" cy="4165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82AA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setItems</a:t>
            </a:r>
            <a:r>
              <a:rPr lang="en-US" sz="22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(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6496005" y="3790290"/>
            <a:ext cx="0" cy="391147"/>
          </a:xfrm>
          <a:prstGeom prst="line">
            <a:avLst/>
          </a:prstGeom>
          <a:noFill/>
          <a:ln w="38100">
            <a:solidFill>
              <a:srgbClr val="16A3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79577" y="3790290"/>
            <a:ext cx="4395940" cy="4165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[...items, newItem]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6496005" y="4181438"/>
            <a:ext cx="0" cy="391147"/>
          </a:xfrm>
          <a:prstGeom prst="line">
            <a:avLst/>
          </a:prstGeom>
          <a:noFill/>
          <a:ln w="38100">
            <a:solidFill>
              <a:srgbClr val="1E293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79577" y="4181438"/>
            <a:ext cx="4395940" cy="4165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);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6486480" y="4963065"/>
            <a:ext cx="955233" cy="523496"/>
          </a:xfrm>
          <a:prstGeom prst="roundRect">
            <a:avLst>
              <a:gd name="adj" fmla="val 17588"/>
            </a:avLst>
          </a:prstGeom>
          <a:solidFill>
            <a:srgbClr val="FFFFFF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570445" y="5047031"/>
            <a:ext cx="355564" cy="355564"/>
          </a:xfrm>
          <a:prstGeom prst="roundRect">
            <a:avLst>
              <a:gd name="adj" fmla="val 17859"/>
            </a:avLst>
          </a:prstGeom>
          <a:solidFill>
            <a:srgbClr val="CBD5E1"/>
          </a:solidFill>
          <a:ln/>
        </p:spPr>
      </p:sp>
      <p:sp>
        <p:nvSpPr>
          <p:cNvPr id="28" name="Shape 26"/>
          <p:cNvSpPr/>
          <p:nvPr/>
        </p:nvSpPr>
        <p:spPr>
          <a:xfrm>
            <a:off x="7002183" y="5047031"/>
            <a:ext cx="355564" cy="355564"/>
          </a:xfrm>
          <a:prstGeom prst="roundRect">
            <a:avLst>
              <a:gd name="adj" fmla="val 17859"/>
            </a:avLst>
          </a:prstGeom>
          <a:solidFill>
            <a:srgbClr val="CBD5E1"/>
          </a:solidFill>
          <a:ln/>
        </p:spPr>
      </p:sp>
      <p:pic>
        <p:nvPicPr>
          <p:cNvPr id="29" name="Image 0" descr="arrow-right">    </p:cNvPr>
          <p:cNvPicPr>
            <a:picLocks noChangeAspect="1"/>
          </p:cNvPicPr>
          <p:nvPr/>
        </p:nvPicPr>
        <p:blipFill>
          <a:blip r:embed="rId1"/>
          <a:srcRect l="-5" r="-5" t="0" b="0"/>
          <a:stretch/>
        </p:blipFill>
        <p:spPr>
          <a:xfrm>
            <a:off x="7603629" y="5123204"/>
            <a:ext cx="406391" cy="203173"/>
          </a:xfrm>
          <a:prstGeom prst="rect">
            <a:avLst/>
          </a:prstGeom>
        </p:spPr>
      </p:pic>
      <p:sp>
        <p:nvSpPr>
          <p:cNvPr id="30" name="Shape 27"/>
          <p:cNvSpPr/>
          <p:nvPr/>
        </p:nvSpPr>
        <p:spPr>
          <a:xfrm>
            <a:off x="8171935" y="4963065"/>
            <a:ext cx="1386970" cy="523496"/>
          </a:xfrm>
          <a:prstGeom prst="roundRect">
            <a:avLst>
              <a:gd name="adj" fmla="val 17588"/>
            </a:avLst>
          </a:prstGeom>
          <a:solidFill>
            <a:srgbClr val="FFFFFF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255901" y="5047031"/>
            <a:ext cx="355564" cy="355564"/>
          </a:xfrm>
          <a:prstGeom prst="roundRect">
            <a:avLst>
              <a:gd name="adj" fmla="val 17859"/>
            </a:avLst>
          </a:prstGeom>
          <a:solidFill>
            <a:srgbClr val="CBD5E1"/>
          </a:solidFill>
          <a:ln/>
        </p:spPr>
      </p:sp>
      <p:sp>
        <p:nvSpPr>
          <p:cNvPr id="32" name="Shape 29"/>
          <p:cNvSpPr/>
          <p:nvPr/>
        </p:nvSpPr>
        <p:spPr>
          <a:xfrm>
            <a:off x="8687639" y="5047031"/>
            <a:ext cx="355564" cy="355564"/>
          </a:xfrm>
          <a:prstGeom prst="roundRect">
            <a:avLst>
              <a:gd name="adj" fmla="val 17859"/>
            </a:avLst>
          </a:prstGeom>
          <a:solidFill>
            <a:srgbClr val="CBD5E1"/>
          </a:solidFill>
          <a:ln/>
        </p:spPr>
      </p:sp>
      <p:sp>
        <p:nvSpPr>
          <p:cNvPr id="33" name="Shape 30"/>
          <p:cNvSpPr/>
          <p:nvPr/>
        </p:nvSpPr>
        <p:spPr>
          <a:xfrm>
            <a:off x="9119375" y="5047031"/>
            <a:ext cx="355564" cy="355564"/>
          </a:xfrm>
          <a:prstGeom prst="roundRect">
            <a:avLst>
              <a:gd name="adj" fmla="val 17859"/>
            </a:avLst>
          </a:prstGeom>
          <a:solidFill>
            <a:srgbClr val="16A34A"/>
          </a:solidFill>
          <a:ln/>
        </p:spPr>
      </p:sp>
      <p:sp>
        <p:nvSpPr>
          <p:cNvPr id="34" name="Text 31"/>
          <p:cNvSpPr/>
          <p:nvPr/>
        </p:nvSpPr>
        <p:spPr>
          <a:xfrm>
            <a:off x="812782" y="406391"/>
            <a:ext cx="3924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50" kern="0" dirty="0">
                <a:solidFill>
                  <a:srgbClr val="087EA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 · Lecture 3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10058418" y="6238286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782" y="812784"/>
            <a:ext cx="10883429" cy="5841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000" b="1" i="0" spc="-50" kern="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Add, remove, update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12782" y="1871898"/>
            <a:ext cx="1831340" cy="421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600" b="1" dirty="0">
                <a:solidFill>
                  <a:srgbClr val="087EA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844782" y="1727129"/>
            <a:ext cx="8534436" cy="685782"/>
          </a:xfrm>
          <a:prstGeom prst="roundRect">
            <a:avLst>
              <a:gd name="adj" fmla="val 14815"/>
            </a:avLst>
          </a:prstGeom>
          <a:solidFill>
            <a:srgbClr val="1E293B"/>
          </a:solidFill>
          <a:ln/>
        </p:spPr>
      </p:sp>
      <p:sp>
        <p:nvSpPr>
          <p:cNvPr id="5" name="Shape 3"/>
          <p:cNvSpPr/>
          <p:nvPr/>
        </p:nvSpPr>
        <p:spPr>
          <a:xfrm>
            <a:off x="2863832" y="1879519"/>
            <a:ext cx="0" cy="381000"/>
          </a:xfrm>
          <a:prstGeom prst="line">
            <a:avLst/>
          </a:prstGeom>
          <a:noFill/>
          <a:ln w="38100">
            <a:solidFill>
              <a:srgbClr val="087EA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098205" y="1879519"/>
            <a:ext cx="8267823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000" dirty="0">
                <a:solidFill>
                  <a:srgbClr val="82AA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setItems</a:t>
            </a: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([...items, newItem])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12782" y="2760855"/>
            <a:ext cx="1831340" cy="421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600" b="1" dirty="0">
                <a:solidFill>
                  <a:srgbClr val="087EA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Remove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844782" y="2616085"/>
            <a:ext cx="8534436" cy="685782"/>
          </a:xfrm>
          <a:prstGeom prst="roundRect">
            <a:avLst>
              <a:gd name="adj" fmla="val 14815"/>
            </a:avLst>
          </a:prstGeom>
          <a:solidFill>
            <a:srgbClr val="1E293B"/>
          </a:solidFill>
          <a:ln/>
        </p:spPr>
      </p:sp>
      <p:sp>
        <p:nvSpPr>
          <p:cNvPr id="9" name="Shape 7"/>
          <p:cNvSpPr/>
          <p:nvPr/>
        </p:nvSpPr>
        <p:spPr>
          <a:xfrm>
            <a:off x="2863832" y="2768476"/>
            <a:ext cx="0" cy="381000"/>
          </a:xfrm>
          <a:prstGeom prst="line">
            <a:avLst/>
          </a:prstGeom>
          <a:noFill/>
          <a:ln w="38100">
            <a:solidFill>
              <a:srgbClr val="087EA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98205" y="2768476"/>
            <a:ext cx="8267823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000" dirty="0">
                <a:solidFill>
                  <a:srgbClr val="82AA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setItems</a:t>
            </a: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(items.</a:t>
            </a:r>
            <a:r>
              <a:rPr lang="en-US" sz="2000" dirty="0">
                <a:solidFill>
                  <a:srgbClr val="82AA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filter</a:t>
            </a: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(i =&gt; i.id !== id))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12782" y="4030808"/>
            <a:ext cx="1831340" cy="421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600" b="1" dirty="0">
                <a:solidFill>
                  <a:srgbClr val="087EA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Update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2844782" y="3505039"/>
            <a:ext cx="8534436" cy="1447782"/>
          </a:xfrm>
          <a:prstGeom prst="roundRect">
            <a:avLst>
              <a:gd name="adj" fmla="val 7018"/>
            </a:avLst>
          </a:prstGeom>
          <a:solidFill>
            <a:srgbClr val="1E293B"/>
          </a:solidFill>
          <a:ln/>
        </p:spPr>
      </p:sp>
      <p:sp>
        <p:nvSpPr>
          <p:cNvPr id="13" name="Shape 11"/>
          <p:cNvSpPr/>
          <p:nvPr/>
        </p:nvSpPr>
        <p:spPr>
          <a:xfrm>
            <a:off x="2863832" y="3657429"/>
            <a:ext cx="0" cy="381000"/>
          </a:xfrm>
          <a:prstGeom prst="line">
            <a:avLst/>
          </a:prstGeom>
          <a:noFill/>
          <a:ln w="38100">
            <a:solidFill>
              <a:srgbClr val="1E29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98205" y="3657429"/>
            <a:ext cx="8267823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000" dirty="0">
                <a:solidFill>
                  <a:srgbClr val="82AA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setItems</a:t>
            </a: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(items.</a:t>
            </a:r>
            <a:r>
              <a:rPr lang="en-US" sz="2000" dirty="0">
                <a:solidFill>
                  <a:srgbClr val="82AA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map</a:t>
            </a: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(i =&gt;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2863832" y="4038429"/>
            <a:ext cx="0" cy="381000"/>
          </a:xfrm>
          <a:prstGeom prst="line">
            <a:avLst/>
          </a:prstGeom>
          <a:noFill/>
          <a:ln w="38100">
            <a:solidFill>
              <a:srgbClr val="087EA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98205" y="4038429"/>
            <a:ext cx="8267823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i.id === id ? { ...i, done: !i.done } : i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2863832" y="4419429"/>
            <a:ext cx="0" cy="381000"/>
          </a:xfrm>
          <a:prstGeom prst="line">
            <a:avLst/>
          </a:prstGeom>
          <a:noFill/>
          <a:ln w="38100">
            <a:solidFill>
              <a:srgbClr val="1E29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98205" y="4419429"/>
            <a:ext cx="8267823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))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12782" y="406394"/>
            <a:ext cx="3924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50" kern="0" dirty="0">
                <a:solidFill>
                  <a:srgbClr val="087EA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 · Lecture 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058418" y="6238289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782" y="812781"/>
            <a:ext cx="10883429" cy="5841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000" b="1" i="0" spc="-50" kern="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Lifting state up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12782" y="1498563"/>
            <a:ext cx="10883429" cy="454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80"/>
              </a:lnSpc>
              <a:buNone/>
            </a:pPr>
            <a:r>
              <a:rPr lang="en-US" sz="26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Shared data lives in the closest common parent</a:t>
            </a:r>
            <a:endParaRPr lang="en-US" sz="2600" dirty="0"/>
          </a:p>
        </p:txBody>
      </p:sp>
      <p:pic>
        <p:nvPicPr>
          <p:cNvPr id="4" name="Image 0" descr="connector">    </p:cNvPr>
          <p:cNvPicPr>
            <a:picLocks noChangeAspect="1"/>
          </p:cNvPicPr>
          <p:nvPr/>
        </p:nvPicPr>
        <p:blipFill>
          <a:blip r:embed="rId1"/>
          <a:srcRect l="-2" r="-2" t="0" b="0"/>
          <a:stretch/>
        </p:blipFill>
        <p:spPr>
          <a:xfrm>
            <a:off x="3873500" y="3568669"/>
            <a:ext cx="1778000" cy="927064"/>
          </a:xfrm>
          <a:prstGeom prst="rect">
            <a:avLst/>
          </a:prstGeom>
        </p:spPr>
      </p:pic>
      <p:pic>
        <p:nvPicPr>
          <p:cNvPr id="5" name="Image 1" descr="connector">    </p:cNvPr>
          <p:cNvPicPr>
            <a:picLocks noChangeAspect="1"/>
          </p:cNvPicPr>
          <p:nvPr/>
        </p:nvPicPr>
        <p:blipFill>
          <a:blip r:embed="rId2"/>
          <a:srcRect l="-2" r="-2" t="0" b="0"/>
          <a:stretch/>
        </p:blipFill>
        <p:spPr>
          <a:xfrm>
            <a:off x="6540500" y="3568669"/>
            <a:ext cx="1778000" cy="927064"/>
          </a:xfrm>
          <a:prstGeom prst="rect">
            <a:avLst/>
          </a:prstGeom>
        </p:spPr>
      </p:pic>
      <p:pic>
        <p:nvPicPr>
          <p:cNvPr id="6" name="Image 2" descr="connector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2349500" y="3016250"/>
            <a:ext cx="2133564" cy="1479532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4454525" y="2549525"/>
            <a:ext cx="3282950" cy="1060450"/>
          </a:xfrm>
          <a:prstGeom prst="roundRect">
            <a:avLst>
              <a:gd name="adj" fmla="val 11078"/>
            </a:avLst>
          </a:prstGeom>
          <a:solidFill>
            <a:srgbClr val="F0F9FC"/>
          </a:solidFill>
          <a:ln w="19050">
            <a:solidFill>
              <a:srgbClr val="087EA4"/>
            </a:solidFill>
            <a:prstDash val="solid"/>
          </a:ln>
        </p:spPr>
      </p:sp>
      <p:sp>
        <p:nvSpPr>
          <p:cNvPr id="8" name="Text 3"/>
          <p:cNvSpPr/>
          <p:nvPr/>
        </p:nvSpPr>
        <p:spPr>
          <a:xfrm>
            <a:off x="5465401" y="2640341"/>
            <a:ext cx="1261197" cy="421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120"/>
              </a:lnSpc>
              <a:buNone/>
            </a:pPr>
            <a:r>
              <a:rPr lang="en-US" sz="26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Parent</a:t>
            </a:r>
            <a:endParaRPr lang="en-US" sz="2600" dirty="0"/>
          </a:p>
        </p:txBody>
      </p:sp>
      <p:sp>
        <p:nvSpPr>
          <p:cNvPr id="9" name="Text 4"/>
          <p:cNvSpPr/>
          <p:nvPr/>
        </p:nvSpPr>
        <p:spPr>
          <a:xfrm>
            <a:off x="5119868" y="3133055"/>
            <a:ext cx="809264" cy="391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state</a:t>
            </a:r>
            <a:endParaRPr lang="en-US" sz="2400" dirty="0"/>
          </a:p>
        </p:txBody>
      </p:sp>
      <p:sp>
        <p:nvSpPr>
          <p:cNvPr id="10" name="Text 5"/>
          <p:cNvSpPr/>
          <p:nvPr/>
        </p:nvSpPr>
        <p:spPr>
          <a:xfrm>
            <a:off x="5929132" y="3112759"/>
            <a:ext cx="1143000" cy="406346"/>
          </a:xfrm>
          <a:prstGeom prst="roundRect">
            <a:avLst>
              <a:gd name="adj" fmla="val 15627"/>
            </a:avLst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7DD3F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search</a:t>
            </a:r>
            <a:endParaRPr lang="en-US" sz="2000" dirty="0"/>
          </a:p>
        </p:txBody>
      </p:sp>
      <p:sp>
        <p:nvSpPr>
          <p:cNvPr id="11" name="Shape 6"/>
          <p:cNvSpPr/>
          <p:nvPr/>
        </p:nvSpPr>
        <p:spPr>
          <a:xfrm>
            <a:off x="1914525" y="4454525"/>
            <a:ext cx="3282950" cy="1060450"/>
          </a:xfrm>
          <a:prstGeom prst="roundRect">
            <a:avLst>
              <a:gd name="adj" fmla="val 11078"/>
            </a:avLst>
          </a:prstGeom>
          <a:solidFill>
            <a:srgbClr val="FFFFFF"/>
          </a:solidFill>
          <a:ln w="19050">
            <a:solidFill>
              <a:srgbClr val="087EA4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2548731" y="4545341"/>
            <a:ext cx="2014538" cy="421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120"/>
              </a:lnSpc>
              <a:buNone/>
            </a:pPr>
            <a:r>
              <a:rPr lang="en-US" sz="26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SearchBar</a:t>
            </a:r>
            <a:endParaRPr lang="en-US" sz="2600" dirty="0"/>
          </a:p>
        </p:txBody>
      </p:sp>
      <p:sp>
        <p:nvSpPr>
          <p:cNvPr id="13" name="Text 8"/>
          <p:cNvSpPr/>
          <p:nvPr/>
        </p:nvSpPr>
        <p:spPr>
          <a:xfrm>
            <a:off x="2393968" y="5038055"/>
            <a:ext cx="723846" cy="391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gets</a:t>
            </a:r>
            <a:endParaRPr lang="en-US" sz="2400" dirty="0"/>
          </a:p>
        </p:txBody>
      </p:sp>
      <p:sp>
        <p:nvSpPr>
          <p:cNvPr id="14" name="Text 9"/>
          <p:cNvSpPr/>
          <p:nvPr/>
        </p:nvSpPr>
        <p:spPr>
          <a:xfrm>
            <a:off x="3117814" y="5017759"/>
            <a:ext cx="1600173" cy="406346"/>
          </a:xfrm>
          <a:prstGeom prst="roundRect">
            <a:avLst>
              <a:gd name="adj" fmla="val 15627"/>
            </a:avLst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82AA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setSearch</a:t>
            </a:r>
            <a:endParaRPr lang="en-US" sz="2000" dirty="0"/>
          </a:p>
        </p:txBody>
      </p:sp>
      <p:sp>
        <p:nvSpPr>
          <p:cNvPr id="15" name="Shape 10"/>
          <p:cNvSpPr/>
          <p:nvPr/>
        </p:nvSpPr>
        <p:spPr>
          <a:xfrm>
            <a:off x="6994525" y="4454525"/>
            <a:ext cx="3282950" cy="1060450"/>
          </a:xfrm>
          <a:prstGeom prst="roundRect">
            <a:avLst>
              <a:gd name="adj" fmla="val 11078"/>
            </a:avLst>
          </a:prstGeom>
          <a:solidFill>
            <a:srgbClr val="FFFFFF"/>
          </a:solidFill>
          <a:ln w="19050">
            <a:solidFill>
              <a:srgbClr val="087EA4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7523036" y="4545341"/>
            <a:ext cx="2225927" cy="421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120"/>
              </a:lnSpc>
              <a:buNone/>
            </a:pPr>
            <a:r>
              <a:rPr lang="en-US" sz="26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ProductList</a:t>
            </a:r>
            <a:endParaRPr lang="en-US" sz="2600" dirty="0"/>
          </a:p>
        </p:txBody>
      </p:sp>
      <p:sp>
        <p:nvSpPr>
          <p:cNvPr id="17" name="Text 12"/>
          <p:cNvSpPr/>
          <p:nvPr/>
        </p:nvSpPr>
        <p:spPr>
          <a:xfrm>
            <a:off x="7702577" y="5038055"/>
            <a:ext cx="723846" cy="391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gets</a:t>
            </a:r>
            <a:endParaRPr lang="en-US" sz="2400" dirty="0"/>
          </a:p>
        </p:txBody>
      </p:sp>
      <p:sp>
        <p:nvSpPr>
          <p:cNvPr id="18" name="Text 13"/>
          <p:cNvSpPr/>
          <p:nvPr/>
        </p:nvSpPr>
        <p:spPr>
          <a:xfrm>
            <a:off x="8426423" y="5017759"/>
            <a:ext cx="1143000" cy="406346"/>
          </a:xfrm>
          <a:prstGeom prst="roundRect">
            <a:avLst>
              <a:gd name="adj" fmla="val 15627"/>
            </a:avLst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7DD3F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search</a:t>
            </a:r>
            <a:endParaRPr lang="en-US" sz="2000" dirty="0"/>
          </a:p>
        </p:txBody>
      </p:sp>
      <p:sp>
        <p:nvSpPr>
          <p:cNvPr id="19" name="Text 14"/>
          <p:cNvSpPr/>
          <p:nvPr/>
        </p:nvSpPr>
        <p:spPr>
          <a:xfrm>
            <a:off x="812782" y="406388"/>
            <a:ext cx="3924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50" kern="0" dirty="0">
                <a:solidFill>
                  <a:srgbClr val="087EA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 · Lecture 3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10058418" y="6238286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782" y="812781"/>
            <a:ext cx="10883429" cy="5841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000" b="1" i="0" spc="-50" kern="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Props vs state</a:t>
            </a:r>
            <a:endParaRPr lang="en-US" sz="4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4327" y="1738671"/>
          <a:ext cx="10554845" cy="2972053"/>
        </p:xfrm>
        <a:graphic>
          <a:graphicData uri="http://schemas.openxmlformats.org/drawingml/2006/table">
            <a:tbl>
              <a:tblPr/>
              <a:tblGrid>
                <a:gridCol w="5277423"/>
                <a:gridCol w="5277423"/>
              </a:tblGrid>
              <a:tr h="743013">
                <a:tc>
                  <a:txBody>
                    <a:bodyPr/>
                    <a:lstStyle/>
                    <a:p>
                      <a:pPr indent="0" marL="0">
                        <a:lnSpc>
                          <a:spcPts val="3360"/>
                        </a:lnSpc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Props</a:t>
                      </a:r>
                      <a:endParaRPr lang="en-US" sz="2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54000" marR="254000" marT="152400" marB="1524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6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6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7EA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3360"/>
                        </a:lnSpc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State</a:t>
                      </a:r>
                      <a:endParaRPr lang="en-US" sz="2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54000" marR="254000" marT="152400" marB="152400" anchor="t">
                    <a:lnL w="12700" cap="flat" cmpd="sng" algn="ctr">
                      <a:solidFill>
                        <a:srgbClr val="0B6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6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6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7EA4"/>
                    </a:solidFill>
                  </a:tcPr>
                </a:tc>
              </a:tr>
              <a:tr h="743013">
                <a:tc>
                  <a:txBody>
                    <a:bodyPr/>
                    <a:lstStyle/>
                    <a:p>
                      <a:pPr indent="0" marL="0">
                        <a:lnSpc>
                          <a:spcPts val="3360"/>
                        </a:lnSpc>
                        <a:buNone/>
                      </a:pPr>
                      <a:r>
                        <a:rPr lang="en-US" sz="2400" dirty="0">
                          <a:solidFill>
                            <a:srgbClr val="0F17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comes from the parent</a:t>
                      </a:r>
                      <a:endParaRPr lang="en-US" sz="2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54000" marR="254000" marT="152400" marB="1524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6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3360"/>
                        </a:lnSpc>
                        <a:buNone/>
                      </a:pPr>
                      <a:r>
                        <a:rPr lang="en-US" sz="2400" dirty="0">
                          <a:solidFill>
                            <a:srgbClr val="0F17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owned by the component</a:t>
                      </a:r>
                      <a:endParaRPr lang="en-US" sz="2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54000" marR="254000" marT="152400" marB="1524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6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3013">
                <a:tc>
                  <a:txBody>
                    <a:bodyPr/>
                    <a:lstStyle/>
                    <a:p>
                      <a:pPr indent="0" marL="0">
                        <a:lnSpc>
                          <a:spcPts val="3360"/>
                        </a:lnSpc>
                        <a:buNone/>
                      </a:pPr>
                      <a:r>
                        <a:rPr lang="en-US" sz="2400" dirty="0">
                          <a:solidFill>
                            <a:srgbClr val="0F17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read-only</a:t>
                      </a:r>
                      <a:endParaRPr lang="en-US" sz="2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54000" marR="254000" marT="152400" marB="1524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3360"/>
                        </a:lnSpc>
                        <a:buNone/>
                      </a:pPr>
                      <a:r>
                        <a:rPr lang="en-US" sz="2400" dirty="0">
                          <a:solidFill>
                            <a:srgbClr val="0F17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changed with its setter</a:t>
                      </a:r>
                      <a:endParaRPr lang="en-US" sz="2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54000" marR="254000" marT="152400" marB="152400" anchor="t">
                    <a:lnL w="12700" cap="flat" cmpd="sng" algn="ctr">
                      <a:solidFill>
                        <a:srgbClr val="C0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743013">
                <a:tc>
                  <a:txBody>
                    <a:bodyPr/>
                    <a:lstStyle/>
                    <a:p>
                      <a:pPr indent="0" marL="0">
                        <a:lnSpc>
                          <a:spcPts val="3360"/>
                        </a:lnSpc>
                        <a:buNone/>
                      </a:pPr>
                      <a:r>
                        <a:rPr lang="en-US" sz="2400" dirty="0">
                          <a:solidFill>
                            <a:srgbClr val="0F17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like function arguments</a:t>
                      </a:r>
                      <a:endParaRPr lang="en-US" sz="2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54000" marR="254000" marT="152400" marB="1524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3360"/>
                        </a:lnSpc>
                        <a:buNone/>
                      </a:pPr>
                      <a:r>
                        <a:rPr lang="en-US" sz="2400" dirty="0">
                          <a:solidFill>
                            <a:srgbClr val="0F17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like the component's memory</a:t>
                      </a:r>
                      <a:endParaRPr lang="en-US" sz="2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54000" marR="254000" marT="152400" marB="1524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12782" y="406388"/>
            <a:ext cx="3924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50" kern="0" dirty="0">
                <a:solidFill>
                  <a:srgbClr val="087EA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 · Lecture 3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0058418" y="6238286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782" y="812781"/>
            <a:ext cx="10883429" cy="5841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000" b="1" i="0" spc="-50" kern="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Homework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822307" y="1736651"/>
            <a:ext cx="6330950" cy="3677976"/>
          </a:xfrm>
          <a:prstGeom prst="roundRect">
            <a:avLst>
              <a:gd name="adj" fmla="val 3885"/>
            </a:avLst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0" dist="50800" dir="5400000">
              <a:srgbClr val="0F172A">
                <a:alpha val="6000"/>
              </a:srgbClr>
            </a:outerShdw>
          </a:effectLst>
        </p:spPr>
      </p:sp>
      <p:pic>
        <p:nvPicPr>
          <p:cNvPr id="4" name="Image 0" descr="Cod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36491" y="2150790"/>
            <a:ext cx="355564" cy="3555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44446" y="2100008"/>
            <a:ext cx="2918059" cy="4825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Shopping list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1249191" y="2872135"/>
            <a:ext cx="304773" cy="304773"/>
          </a:xfrm>
          <a:prstGeom prst="roundRect">
            <a:avLst>
              <a:gd name="adj" fmla="val 16668"/>
            </a:avLst>
          </a:prstGeom>
          <a:noFill/>
          <a:ln w="25400">
            <a:solidFill>
              <a:srgbClr val="087EA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744446" y="2811177"/>
            <a:ext cx="4397736" cy="4520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an item with quantity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1249191" y="3476606"/>
            <a:ext cx="304773" cy="304773"/>
          </a:xfrm>
          <a:prstGeom prst="roundRect">
            <a:avLst>
              <a:gd name="adj" fmla="val 16668"/>
            </a:avLst>
          </a:prstGeom>
          <a:noFill/>
          <a:ln w="25400">
            <a:solidFill>
              <a:srgbClr val="087EA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744446" y="3415649"/>
            <a:ext cx="2753050" cy="4520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Remove an item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1249191" y="4081072"/>
            <a:ext cx="304773" cy="304773"/>
          </a:xfrm>
          <a:prstGeom prst="roundRect">
            <a:avLst>
              <a:gd name="adj" fmla="val 16668"/>
            </a:avLst>
          </a:prstGeom>
          <a:noFill/>
          <a:ln w="25400">
            <a:solidFill>
              <a:srgbClr val="087EA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744446" y="4020114"/>
            <a:ext cx="2703909" cy="4520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 as bought</a:t>
            </a:r>
            <a:endParaRPr lang="en-US" sz="2400" dirty="0"/>
          </a:p>
        </p:txBody>
      </p:sp>
      <p:sp>
        <p:nvSpPr>
          <p:cNvPr id="12" name="Shape 9"/>
          <p:cNvSpPr/>
          <p:nvPr/>
        </p:nvSpPr>
        <p:spPr>
          <a:xfrm>
            <a:off x="1249191" y="4685537"/>
            <a:ext cx="304773" cy="304773"/>
          </a:xfrm>
          <a:prstGeom prst="roundRect">
            <a:avLst>
              <a:gd name="adj" fmla="val 16668"/>
            </a:avLst>
          </a:prstGeom>
          <a:noFill/>
          <a:ln w="25400">
            <a:solidFill>
              <a:srgbClr val="087EA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744446" y="4624586"/>
            <a:ext cx="4139478" cy="4520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Show how many are left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812782" y="406388"/>
            <a:ext cx="3924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50" kern="0" dirty="0">
                <a:solidFill>
                  <a:srgbClr val="087EA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 · Lecture 3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0058418" y="6238286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act · Lecture 3 — State and events">
  <a:themeElements>
    <a:clrScheme name="React · Lecture 3 — State and events">
      <a:dk1>
        <a:srgbClr val="0F172A"/>
      </a:dk1>
      <a:lt1>
        <a:srgbClr val="FFFFFF"/>
      </a:lt1>
      <a:dk2>
        <a:srgbClr val="4B515F"/>
      </a:dk2>
      <a:lt2>
        <a:srgbClr val="E7E8EA"/>
      </a:lt2>
      <a:accent1>
        <a:srgbClr val="087EA4"/>
      </a:accent1>
      <a:accent2>
        <a:srgbClr val="64748B"/>
      </a:accent2>
      <a:accent3>
        <a:srgbClr val="16A34A"/>
      </a:accent3>
      <a:accent4>
        <a:srgbClr val="DC2626"/>
      </a:accent4>
      <a:accent5>
        <a:srgbClr val="7DD3FC"/>
      </a:accent5>
      <a:accent6>
        <a:srgbClr val="F59E0B"/>
      </a:accent6>
      <a:hlink>
        <a:srgbClr val="0563C1"/>
      </a:hlink>
      <a:folHlink>
        <a:srgbClr val="954F72"/>
      </a:folHlink>
    </a:clrScheme>
    <a:fontScheme name="React · Lecture 3 — State and events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React · Lecture 3 — State and events</dc:title>
  <dc:subject/>
  <dc:creator/>
  <cp:lastModifiedBy/>
  <cp:revision>1</cp:revision>
  <dcterms:created xsi:type="dcterms:W3CDTF">2026-10-07T14:44:53Z</dcterms:created>
  <dcterms:modified xsi:type="dcterms:W3CDTF">2026-10-07T14:44:53Z</dcterms:modified>
</cp:coreProperties>
</file>