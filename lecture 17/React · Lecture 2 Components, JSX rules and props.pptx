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box is a component. Ask her to box another page, e.g. YouTube.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a function. PascalCase name, one per file, file named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error each broken rule produces. Why: JSX becomes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Anything that produces a value can go inside the braces.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operators as in JS; now they return JSX. if goes before the return.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card, different props → reusability. Strings in quotes, everything else in {}.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Shorter, and shows at a glance which props the component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lecture: how data actually changes (state).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Useful for wrappers like cards, modals and layouts.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.map() turns the array into components. The key is React's name tag for each item; why it matters comes in Lecture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914391"/>
            <a:ext cx="4104995" cy="55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777973"/>
            <a:ext cx="10566418" cy="426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914391"/>
            <a:ext cx="4104995" cy="55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777973"/>
            <a:ext cx="10566418" cy="426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4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2280994"/>
            <a:ext cx="3924300" cy="125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Thinking in components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2" y="3713487"/>
            <a:ext cx="3924300" cy="78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UI is made of small pieces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35523" y="1042013"/>
            <a:ext cx="6337300" cy="4672364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18500" y="1224991"/>
            <a:ext cx="6150485" cy="223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28025" y="1483374"/>
            <a:ext cx="5952295" cy="488950"/>
          </a:xfrm>
          <a:prstGeom prst="roundRect">
            <a:avLst>
              <a:gd name="adj" fmla="val 16234"/>
            </a:avLst>
          </a:prstGeom>
          <a:noFill/>
          <a:ln w="19050">
            <a:solidFill>
              <a:srgbClr val="087EA4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388209" y="1588131"/>
            <a:ext cx="279391" cy="279391"/>
          </a:xfrm>
          <a:prstGeom prst="roundRect">
            <a:avLst>
              <a:gd name="adj" fmla="val 22728"/>
            </a:avLst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5794600" y="1670708"/>
            <a:ext cx="889000" cy="114282"/>
          </a:xfrm>
          <a:prstGeom prst="roundRect">
            <a:avLst>
              <a:gd name="adj" fmla="val 22226"/>
            </a:avLst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9432636" y="1683381"/>
            <a:ext cx="444500" cy="88891"/>
          </a:xfrm>
          <a:prstGeom prst="roundRect">
            <a:avLst>
              <a:gd name="adj" fmla="val 28574"/>
            </a:avLst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10004136" y="1683381"/>
            <a:ext cx="444500" cy="88891"/>
          </a:xfrm>
          <a:prstGeom prst="roundRect">
            <a:avLst>
              <a:gd name="adj" fmla="val 28574"/>
            </a:avLst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75636" y="1683381"/>
            <a:ext cx="444500" cy="88891"/>
          </a:xfrm>
          <a:prstGeom prst="roundRect">
            <a:avLst>
              <a:gd name="adj" fmla="val 28574"/>
            </a:avLst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5218500" y="2108849"/>
            <a:ext cx="6150485" cy="223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SearchBar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28025" y="2367233"/>
            <a:ext cx="5952295" cy="438123"/>
          </a:xfrm>
          <a:prstGeom prst="roundRect">
            <a:avLst>
              <a:gd name="adj" fmla="val 18117"/>
            </a:avLst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343732" y="2452949"/>
            <a:ext cx="4920817" cy="266691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16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50492" y="2497381"/>
            <a:ext cx="177782" cy="17778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0372463" y="2446599"/>
            <a:ext cx="698500" cy="279391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18" name="Text 15"/>
          <p:cNvSpPr/>
          <p:nvPr/>
        </p:nvSpPr>
        <p:spPr>
          <a:xfrm>
            <a:off x="5218500" y="2941881"/>
            <a:ext cx="6150485" cy="223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BE18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ProductCard ×3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228025" y="3200265"/>
            <a:ext cx="1886717" cy="1564752"/>
          </a:xfrm>
          <a:prstGeom prst="roundRect">
            <a:avLst>
              <a:gd name="adj" fmla="val 5073"/>
            </a:avLst>
          </a:prstGeom>
          <a:noFill/>
          <a:ln w="19050">
            <a:solidFill>
              <a:srgbClr val="BE185D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5337382" y="3309622"/>
            <a:ext cx="1668002" cy="698500"/>
          </a:xfrm>
          <a:prstGeom prst="roundRect">
            <a:avLst>
              <a:gd name="adj" fmla="val 7273"/>
            </a:avLst>
          </a:prstGeom>
          <a:solidFill>
            <a:srgbClr val="E2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5337382" y="4084294"/>
            <a:ext cx="1143000" cy="114282"/>
          </a:xfrm>
          <a:prstGeom prst="roundRect">
            <a:avLst>
              <a:gd name="adj" fmla="val 22226"/>
            </a:avLst>
          </a:prstGeom>
          <a:solidFill>
            <a:srgbClr val="CBD5E1"/>
          </a:solidFill>
          <a:ln/>
        </p:spPr>
      </p:sp>
      <p:sp>
        <p:nvSpPr>
          <p:cNvPr id="22" name="Shape 19"/>
          <p:cNvSpPr/>
          <p:nvPr/>
        </p:nvSpPr>
        <p:spPr>
          <a:xfrm>
            <a:off x="5337382" y="4274750"/>
            <a:ext cx="635000" cy="101564"/>
          </a:xfrm>
          <a:prstGeom prst="roundRect">
            <a:avLst>
              <a:gd name="adj" fmla="val 25009"/>
            </a:avLst>
          </a:prstGeom>
          <a:solidFill>
            <a:srgbClr val="E2E8F0"/>
          </a:solidFill>
          <a:ln/>
        </p:spPr>
      </p:sp>
      <p:sp>
        <p:nvSpPr>
          <p:cNvPr id="23" name="Shape 20"/>
          <p:cNvSpPr/>
          <p:nvPr/>
        </p:nvSpPr>
        <p:spPr>
          <a:xfrm>
            <a:off x="5337382" y="4452486"/>
            <a:ext cx="762000" cy="203173"/>
          </a:xfrm>
          <a:prstGeom prst="roundRect">
            <a:avLst>
              <a:gd name="adj" fmla="val 25003"/>
            </a:avLst>
          </a:prstGeom>
          <a:solidFill>
            <a:srgbClr val="CBD5E1"/>
          </a:solidFill>
          <a:ln/>
        </p:spPr>
      </p:sp>
      <p:sp>
        <p:nvSpPr>
          <p:cNvPr id="24" name="Shape 21"/>
          <p:cNvSpPr/>
          <p:nvPr/>
        </p:nvSpPr>
        <p:spPr>
          <a:xfrm>
            <a:off x="7260792" y="3200265"/>
            <a:ext cx="1886762" cy="1564752"/>
          </a:xfrm>
          <a:prstGeom prst="roundRect">
            <a:avLst>
              <a:gd name="adj" fmla="val 5073"/>
            </a:avLst>
          </a:prstGeom>
          <a:noFill/>
          <a:ln w="19050">
            <a:solidFill>
              <a:srgbClr val="BE185D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7370149" y="3309622"/>
            <a:ext cx="1668048" cy="698500"/>
          </a:xfrm>
          <a:prstGeom prst="roundRect">
            <a:avLst>
              <a:gd name="adj" fmla="val 7273"/>
            </a:avLst>
          </a:prstGeom>
          <a:solidFill>
            <a:srgbClr val="E2E8F0"/>
          </a:solidFill>
          <a:ln/>
        </p:spPr>
      </p:sp>
      <p:sp>
        <p:nvSpPr>
          <p:cNvPr id="26" name="Shape 23"/>
          <p:cNvSpPr/>
          <p:nvPr/>
        </p:nvSpPr>
        <p:spPr>
          <a:xfrm>
            <a:off x="7370149" y="4084294"/>
            <a:ext cx="1143000" cy="114282"/>
          </a:xfrm>
          <a:prstGeom prst="roundRect">
            <a:avLst>
              <a:gd name="adj" fmla="val 22226"/>
            </a:avLst>
          </a:prstGeom>
          <a:solidFill>
            <a:srgbClr val="CBD5E1"/>
          </a:solidFill>
          <a:ln/>
        </p:spPr>
      </p:sp>
      <p:sp>
        <p:nvSpPr>
          <p:cNvPr id="27" name="Shape 24"/>
          <p:cNvSpPr/>
          <p:nvPr/>
        </p:nvSpPr>
        <p:spPr>
          <a:xfrm>
            <a:off x="7370149" y="4274750"/>
            <a:ext cx="635000" cy="101564"/>
          </a:xfrm>
          <a:prstGeom prst="roundRect">
            <a:avLst>
              <a:gd name="adj" fmla="val 25009"/>
            </a:avLst>
          </a:prstGeom>
          <a:solidFill>
            <a:srgbClr val="E2E8F0"/>
          </a:solidFill>
          <a:ln/>
        </p:spPr>
      </p:sp>
      <p:sp>
        <p:nvSpPr>
          <p:cNvPr id="28" name="Shape 25"/>
          <p:cNvSpPr/>
          <p:nvPr/>
        </p:nvSpPr>
        <p:spPr>
          <a:xfrm>
            <a:off x="7370149" y="4452486"/>
            <a:ext cx="762000" cy="203173"/>
          </a:xfrm>
          <a:prstGeom prst="roundRect">
            <a:avLst>
              <a:gd name="adj" fmla="val 25003"/>
            </a:avLst>
          </a:prstGeom>
          <a:solidFill>
            <a:srgbClr val="CBD5E1"/>
          </a:solidFill>
          <a:ln/>
        </p:spPr>
      </p:sp>
      <p:sp>
        <p:nvSpPr>
          <p:cNvPr id="29" name="Shape 26"/>
          <p:cNvSpPr/>
          <p:nvPr/>
        </p:nvSpPr>
        <p:spPr>
          <a:xfrm>
            <a:off x="9293603" y="3200265"/>
            <a:ext cx="1886717" cy="1564752"/>
          </a:xfrm>
          <a:prstGeom prst="roundRect">
            <a:avLst>
              <a:gd name="adj" fmla="val 5073"/>
            </a:avLst>
          </a:prstGeom>
          <a:noFill/>
          <a:ln w="19050">
            <a:solidFill>
              <a:srgbClr val="BE185D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9402961" y="3309622"/>
            <a:ext cx="1668002" cy="698500"/>
          </a:xfrm>
          <a:prstGeom prst="roundRect">
            <a:avLst>
              <a:gd name="adj" fmla="val 7273"/>
            </a:avLst>
          </a:prstGeom>
          <a:solidFill>
            <a:srgbClr val="E2E8F0"/>
          </a:solidFill>
          <a:ln/>
        </p:spPr>
      </p:sp>
      <p:sp>
        <p:nvSpPr>
          <p:cNvPr id="31" name="Shape 28"/>
          <p:cNvSpPr/>
          <p:nvPr/>
        </p:nvSpPr>
        <p:spPr>
          <a:xfrm>
            <a:off x="9402961" y="4084294"/>
            <a:ext cx="1143000" cy="114282"/>
          </a:xfrm>
          <a:prstGeom prst="roundRect">
            <a:avLst>
              <a:gd name="adj" fmla="val 22226"/>
            </a:avLst>
          </a:prstGeom>
          <a:solidFill>
            <a:srgbClr val="CBD5E1"/>
          </a:solidFill>
          <a:ln/>
        </p:spPr>
      </p:sp>
      <p:sp>
        <p:nvSpPr>
          <p:cNvPr id="32" name="Shape 29"/>
          <p:cNvSpPr/>
          <p:nvPr/>
        </p:nvSpPr>
        <p:spPr>
          <a:xfrm>
            <a:off x="9402961" y="4274750"/>
            <a:ext cx="635000" cy="101564"/>
          </a:xfrm>
          <a:prstGeom prst="roundRect">
            <a:avLst>
              <a:gd name="adj" fmla="val 25009"/>
            </a:avLst>
          </a:prstGeom>
          <a:solidFill>
            <a:srgbClr val="E2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9402961" y="4452486"/>
            <a:ext cx="762000" cy="203173"/>
          </a:xfrm>
          <a:prstGeom prst="roundRect">
            <a:avLst>
              <a:gd name="adj" fmla="val 25003"/>
            </a:avLst>
          </a:prstGeom>
          <a:solidFill>
            <a:srgbClr val="CBD5E1"/>
          </a:solidFill>
          <a:ln/>
        </p:spPr>
      </p:sp>
      <p:sp>
        <p:nvSpPr>
          <p:cNvPr id="34" name="Text 31"/>
          <p:cNvSpPr/>
          <p:nvPr/>
        </p:nvSpPr>
        <p:spPr>
          <a:xfrm>
            <a:off x="5218500" y="4901542"/>
            <a:ext cx="6150485" cy="223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Footer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228025" y="5159925"/>
            <a:ext cx="5952295" cy="361950"/>
          </a:xfrm>
          <a:prstGeom prst="roundRect">
            <a:avLst>
              <a:gd name="adj" fmla="val 21930"/>
            </a:avLst>
          </a:prstGeom>
          <a:noFill/>
          <a:ln w="19050">
            <a:solidFill>
              <a:srgbClr val="0F766E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7194531" y="5302791"/>
            <a:ext cx="571500" cy="76173"/>
          </a:xfrm>
          <a:prstGeom prst="roundRect">
            <a:avLst>
              <a:gd name="adj" fmla="val 33345"/>
            </a:avLst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7918423" y="5302791"/>
            <a:ext cx="571500" cy="76173"/>
          </a:xfrm>
          <a:prstGeom prst="roundRect">
            <a:avLst>
              <a:gd name="adj" fmla="val 33345"/>
            </a:avLst>
          </a:prstGeom>
          <a:solidFill>
            <a:srgbClr val="E2E8F0"/>
          </a:solidFill>
          <a:ln/>
        </p:spPr>
      </p:sp>
      <p:sp>
        <p:nvSpPr>
          <p:cNvPr id="38" name="Shape 35"/>
          <p:cNvSpPr/>
          <p:nvPr/>
        </p:nvSpPr>
        <p:spPr>
          <a:xfrm>
            <a:off x="8642314" y="5302791"/>
            <a:ext cx="571500" cy="76173"/>
          </a:xfrm>
          <a:prstGeom prst="roundRect">
            <a:avLst>
              <a:gd name="adj" fmla="val 33345"/>
            </a:avLst>
          </a:prstGeom>
          <a:solidFill>
            <a:srgbClr val="E2E8F0"/>
          </a:solidFill>
          <a:ln/>
        </p:spPr>
      </p:sp>
      <p:sp>
        <p:nvSpPr>
          <p:cNvPr id="39" name="Text 36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4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914391"/>
            <a:ext cx="7320341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Anatomy of a component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782" y="1778000"/>
            <a:ext cx="5715000" cy="3606782"/>
          </a:xfrm>
          <a:prstGeom prst="roundRect">
            <a:avLst>
              <a:gd name="adj" fmla="val 3521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65173" y="1981173"/>
            <a:ext cx="5257827" cy="355564"/>
          </a:xfrm>
          <a:prstGeom prst="rect">
            <a:avLst/>
          </a:prstGeom>
          <a:solidFill>
            <a:srgbClr val="17384B"/>
          </a:solidFill>
          <a:ln/>
        </p:spPr>
        <p:txBody>
          <a:bodyPr wrap="none" lIns="201468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function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ProductCard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 {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90573" y="1981173"/>
            <a:ext cx="0" cy="355564"/>
          </a:xfrm>
          <a:prstGeom prst="line">
            <a:avLst/>
          </a:prstGeom>
          <a:noFill/>
          <a:ln w="50800">
            <a:solidFill>
              <a:srgbClr val="08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173" y="2336736"/>
            <a:ext cx="5257827" cy="355564"/>
          </a:xfrm>
          <a:prstGeom prst="rect">
            <a:avLst/>
          </a:prstGeom>
          <a:solidFill>
            <a:srgbClr val="17384B"/>
          </a:solidFill>
          <a:ln/>
        </p:spPr>
        <p:txBody>
          <a:bodyPr wrap="none" lIns="201468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90573" y="2336736"/>
            <a:ext cx="0" cy="355564"/>
          </a:xfrm>
          <a:prstGeom prst="line">
            <a:avLst/>
          </a:prstGeom>
          <a:noFill/>
          <a:ln w="50800">
            <a:solidFill>
              <a:srgbClr val="087E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0573" y="2692301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6641" y="2692301"/>
            <a:ext cx="5208049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div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className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</a:t>
            </a:r>
            <a:r>
              <a:rPr lang="en-US" sz="2000" dirty="0">
                <a:solidFill>
                  <a:srgbClr val="C3E88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"card"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90573" y="3047864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6641" y="3047864"/>
            <a:ext cx="5208049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h3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&gt;Shoes&lt;/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h3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90573" y="3403428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6641" y="3403428"/>
            <a:ext cx="5208049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&gt;$50&lt;/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90573" y="3758992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6641" y="3758992"/>
            <a:ext cx="5208049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div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0573" y="4114556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6641" y="4114556"/>
            <a:ext cx="5208049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);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90573" y="4470120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66641" y="4470120"/>
            <a:ext cx="5208049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5173" y="4825684"/>
            <a:ext cx="5257827" cy="355564"/>
          </a:xfrm>
          <a:prstGeom prst="rect">
            <a:avLst/>
          </a:prstGeom>
          <a:solidFill>
            <a:srgbClr val="17384B"/>
          </a:solidFill>
          <a:ln/>
        </p:spPr>
        <p:txBody>
          <a:bodyPr wrap="none" lIns="201468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export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default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ProductCard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90573" y="4825684"/>
            <a:ext cx="0" cy="355564"/>
          </a:xfrm>
          <a:prstGeom prst="line">
            <a:avLst/>
          </a:prstGeom>
          <a:noFill/>
          <a:ln w="50800">
            <a:solidFill>
              <a:srgbClr val="087EA4"/>
            </a:solidFill>
            <a:prstDash val="solid"/>
          </a:ln>
        </p:spPr>
      </p:sp>
      <p:pic>
        <p:nvPicPr>
          <p:cNvPr id="23" name="Image 0" descr="connector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565891" y="1841500"/>
            <a:ext cx="1092173" cy="381000"/>
          </a:xfrm>
          <a:prstGeom prst="rect">
            <a:avLst/>
          </a:prstGeom>
        </p:spPr>
      </p:pic>
      <p:pic>
        <p:nvPicPr>
          <p:cNvPr id="24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65891" y="2451064"/>
            <a:ext cx="1092173" cy="406391"/>
          </a:xfrm>
          <a:prstGeom prst="rect">
            <a:avLst/>
          </a:prstGeom>
        </p:spPr>
      </p:pic>
      <p:pic>
        <p:nvPicPr>
          <p:cNvPr id="25" name="Image 2" descr="connector">    </p:cNvPr>
          <p:cNvPicPr>
            <a:picLocks noChangeAspect="1"/>
          </p:cNvPicPr>
          <p:nvPr/>
        </p:nvPicPr>
        <p:blipFill>
          <a:blip r:embed="rId3"/>
          <a:srcRect l="0" r="0" t="-1" b="-1"/>
          <a:stretch/>
        </p:blipFill>
        <p:spPr>
          <a:xfrm>
            <a:off x="6565891" y="4940281"/>
            <a:ext cx="1092173" cy="1270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629525" y="1660525"/>
            <a:ext cx="2266950" cy="482862"/>
          </a:xfrm>
          <a:custGeom>
            <a:avLst/>
            <a:gdLst/>
            <a:ahLst/>
            <a:cxnLst/>
            <a:rect l="l" t="t" r="r" b="b"/>
            <a:pathLst>
              <a:path w="2266950" h="482862">
                <a:moveTo>
                  <a:pt x="241431" y="0"/>
                </a:moveTo>
                <a:lnTo>
                  <a:pt x="2025519" y="0"/>
                </a:lnTo>
                <a:arcTo hR="241431" wR="241431" stAng="16200000" swAng="5400000"/>
                <a:lnTo>
                  <a:pt x="2266950" y="241431"/>
                </a:lnTo>
                <a:arcTo hR="241431" wR="241431" stAng="0" swAng="5400000"/>
                <a:lnTo>
                  <a:pt x="241431" y="482862"/>
                </a:lnTo>
                <a:arcTo hR="241431" wR="241431" stAng="5400000" swAng="5400000"/>
                <a:lnTo>
                  <a:pt x="0" y="241431"/>
                </a:lnTo>
                <a:arcTo hR="241431" wR="241431" stAng="10800000" swAng="5400000"/>
                <a:close/>
              </a:path>
            </a:pathLst>
          </a:custGeom>
          <a:noFill/>
          <a:ln w="19050">
            <a:solidFill>
              <a:srgbClr val="087EA4"/>
            </a:solidFill>
            <a:prstDash val="solid"/>
          </a:ln>
        </p:spPr>
        <p:txBody>
          <a:bodyPr wrap="square" lIns="157157" tIns="58593" rIns="157157" bIns="33193" rtlCol="0" anchor="t">
            <a:normAutofit/>
          </a:bodyPr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function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7629525" y="2549525"/>
            <a:ext cx="2520950" cy="482862"/>
          </a:xfrm>
          <a:custGeom>
            <a:avLst/>
            <a:gdLst/>
            <a:ahLst/>
            <a:cxnLst/>
            <a:rect l="l" t="t" r="r" b="b"/>
            <a:pathLst>
              <a:path w="2520950" h="482862">
                <a:moveTo>
                  <a:pt x="241431" y="0"/>
                </a:moveTo>
                <a:lnTo>
                  <a:pt x="2279519" y="0"/>
                </a:lnTo>
                <a:arcTo hR="241431" wR="241431" stAng="16200000" swAng="5400000"/>
                <a:lnTo>
                  <a:pt x="2520950" y="241431"/>
                </a:lnTo>
                <a:arcTo hR="241431" wR="241431" stAng="0" swAng="5400000"/>
                <a:lnTo>
                  <a:pt x="241431" y="482862"/>
                </a:lnTo>
                <a:arcTo hR="241431" wR="241431" stAng="5400000" swAng="5400000"/>
                <a:lnTo>
                  <a:pt x="0" y="241431"/>
                </a:lnTo>
                <a:arcTo hR="241431" wR="241431" stAng="10800000" swAng="5400000"/>
                <a:close/>
              </a:path>
            </a:pathLst>
          </a:custGeom>
          <a:noFill/>
          <a:ln w="19050">
            <a:solidFill>
              <a:srgbClr val="087EA4"/>
            </a:solidFill>
            <a:prstDash val="solid"/>
          </a:ln>
        </p:spPr>
        <p:txBody>
          <a:bodyPr wrap="square" lIns="153347" tIns="58593" rIns="153347" bIns="33193" rtlCol="0" anchor="t">
            <a:normAutofit/>
          </a:bodyPr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JSX</a:t>
            </a:r>
            <a:endParaRPr lang="en-US" sz="2400" dirty="0"/>
          </a:p>
        </p:txBody>
      </p:sp>
      <p:sp>
        <p:nvSpPr>
          <p:cNvPr id="28" name="Text 23"/>
          <p:cNvSpPr/>
          <p:nvPr/>
        </p:nvSpPr>
        <p:spPr>
          <a:xfrm>
            <a:off x="7629525" y="4759306"/>
            <a:ext cx="1504950" cy="482862"/>
          </a:xfrm>
          <a:custGeom>
            <a:avLst/>
            <a:gdLst/>
            <a:ahLst/>
            <a:cxnLst/>
            <a:rect l="l" t="t" r="r" b="b"/>
            <a:pathLst>
              <a:path w="1504950" h="482862">
                <a:moveTo>
                  <a:pt x="241431" y="0"/>
                </a:moveTo>
                <a:lnTo>
                  <a:pt x="1263519" y="0"/>
                </a:lnTo>
                <a:arcTo hR="241431" wR="241431" stAng="16200000" swAng="5400000"/>
                <a:lnTo>
                  <a:pt x="1504950" y="241431"/>
                </a:lnTo>
                <a:arcTo hR="241431" wR="241431" stAng="0" swAng="5400000"/>
                <a:lnTo>
                  <a:pt x="241431" y="482862"/>
                </a:lnTo>
                <a:arcTo hR="241431" wR="241431" stAng="5400000" swAng="5400000"/>
                <a:lnTo>
                  <a:pt x="0" y="241431"/>
                </a:lnTo>
                <a:arcTo hR="241431" wR="241431" stAng="10800000" swAng="5400000"/>
                <a:close/>
              </a:path>
            </a:pathLst>
          </a:custGeom>
          <a:noFill/>
          <a:ln w="19050">
            <a:solidFill>
              <a:srgbClr val="087EA4"/>
            </a:solidFill>
            <a:prstDash val="solid"/>
          </a:ln>
        </p:spPr>
        <p:txBody>
          <a:bodyPr wrap="square" lIns="160193" tIns="58593" rIns="160193" bIns="33193" rtlCol="0" anchor="t">
            <a:normAutofit/>
          </a:bodyPr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914391"/>
            <a:ext cx="277155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JSX rules</a:t>
            </a:r>
            <a:endParaRPr lang="en-US" sz="4000" dirty="0"/>
          </a:p>
        </p:txBody>
      </p:sp>
      <p:pic>
        <p:nvPicPr>
          <p:cNvPr id="4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782" y="1879518"/>
            <a:ext cx="304782" cy="3047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9955" y="1849031"/>
            <a:ext cx="5363210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parent element, or &lt;&gt;…&lt;/&gt;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629346" y="1777955"/>
            <a:ext cx="4597391" cy="507910"/>
          </a:xfrm>
          <a:prstGeom prst="roundRect">
            <a:avLst>
              <a:gd name="adj" fmla="val 15003"/>
            </a:avLst>
          </a:prstGeom>
          <a:solidFill>
            <a:srgbClr val="1E293B"/>
          </a:solidFill>
          <a:ln/>
        </p:spPr>
        <p:txBody>
          <a:bodyPr wrap="none" lIns="130072" tIns="53882" rIns="1295" bIns="28428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&lt;&gt;&lt;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h1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&gt;Hi&lt;/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h1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&gt;Hey&lt;/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&gt;&lt;/&gt;</a:t>
            </a:r>
            <a:endParaRPr lang="en-US" sz="2000" dirty="0"/>
          </a:p>
        </p:txBody>
      </p:sp>
      <p:pic>
        <p:nvPicPr>
          <p:cNvPr id="7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782" y="2539819"/>
            <a:ext cx="304782" cy="3047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69955" y="2509332"/>
            <a:ext cx="5363210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className, not class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629346" y="2438256"/>
            <a:ext cx="4597391" cy="507910"/>
          </a:xfrm>
          <a:prstGeom prst="roundRect">
            <a:avLst>
              <a:gd name="adj" fmla="val 15003"/>
            </a:avLst>
          </a:prstGeom>
          <a:solidFill>
            <a:srgbClr val="1E293B"/>
          </a:solidFill>
          <a:ln/>
        </p:spPr>
        <p:txBody>
          <a:bodyPr wrap="none" lIns="130072" tIns="53882" rIns="1295" bIns="28428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div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className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</a:t>
            </a:r>
            <a:r>
              <a:rPr lang="en-US" sz="2000" dirty="0">
                <a:solidFill>
                  <a:srgbClr val="C3E88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"card"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pic>
        <p:nvPicPr>
          <p:cNvPr id="10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782" y="3200119"/>
            <a:ext cx="304782" cy="3047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69955" y="3169633"/>
            <a:ext cx="5363210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every tag: &lt;img /&gt;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6629346" y="3098557"/>
            <a:ext cx="4597391" cy="507910"/>
          </a:xfrm>
          <a:prstGeom prst="roundRect">
            <a:avLst>
              <a:gd name="adj" fmla="val 15003"/>
            </a:avLst>
          </a:prstGeom>
          <a:solidFill>
            <a:srgbClr val="1E293B"/>
          </a:solidFill>
          <a:ln/>
        </p:spPr>
        <p:txBody>
          <a:bodyPr wrap="none" lIns="130072" tIns="53882" rIns="1295" bIns="28428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img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src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={url} </a:t>
            </a: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alt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</a:t>
            </a:r>
            <a:r>
              <a:rPr lang="en-US" sz="2000" dirty="0">
                <a:solidFill>
                  <a:srgbClr val="C3E88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""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/&gt;</a:t>
            </a:r>
            <a:endParaRPr lang="en-US" sz="2000" dirty="0"/>
          </a:p>
        </p:txBody>
      </p:sp>
      <p:pic>
        <p:nvPicPr>
          <p:cNvPr id="13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782" y="3860420"/>
            <a:ext cx="304782" cy="3047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69955" y="3829934"/>
            <a:ext cx="5363210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camelCase: onClick, htmlFor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6629346" y="3758857"/>
            <a:ext cx="4597391" cy="507910"/>
          </a:xfrm>
          <a:prstGeom prst="roundRect">
            <a:avLst>
              <a:gd name="adj" fmla="val 15003"/>
            </a:avLst>
          </a:prstGeom>
          <a:solidFill>
            <a:srgbClr val="1E293B"/>
          </a:solidFill>
          <a:ln/>
        </p:spPr>
        <p:txBody>
          <a:bodyPr wrap="none" lIns="130072" tIns="53882" rIns="1295" bIns="28428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button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onClick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={buy}&gt;</a:t>
            </a:r>
            <a:endParaRPr lang="en-US" sz="2000" dirty="0"/>
          </a:p>
        </p:txBody>
      </p:sp>
      <p:pic>
        <p:nvPicPr>
          <p:cNvPr id="16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782" y="4520721"/>
            <a:ext cx="304782" cy="30478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69955" y="4490234"/>
            <a:ext cx="5363210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{} for JavaScript</a:t>
            </a:r>
            <a:endParaRPr lang="en-US" sz="2400" dirty="0"/>
          </a:p>
        </p:txBody>
      </p:sp>
      <p:sp>
        <p:nvSpPr>
          <p:cNvPr id="18" name="Text 11"/>
          <p:cNvSpPr/>
          <p:nvPr/>
        </p:nvSpPr>
        <p:spPr>
          <a:xfrm>
            <a:off x="6629346" y="4419157"/>
            <a:ext cx="4597391" cy="507910"/>
          </a:xfrm>
          <a:prstGeom prst="roundRect">
            <a:avLst>
              <a:gd name="adj" fmla="val 15003"/>
            </a:avLst>
          </a:prstGeom>
          <a:solidFill>
            <a:srgbClr val="1E293B"/>
          </a:solidFill>
          <a:ln/>
        </p:spPr>
        <p:txBody>
          <a:bodyPr wrap="none" lIns="130072" tIns="53882" rIns="1295" bIns="28428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h3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title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h3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pic>
        <p:nvPicPr>
          <p:cNvPr id="19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2782" y="5181022"/>
            <a:ext cx="304782" cy="30478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69955" y="5150535"/>
            <a:ext cx="5363210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style={{ color: 'red' }}</a:t>
            </a:r>
            <a:endParaRPr lang="en-US" sz="2400" dirty="0"/>
          </a:p>
        </p:txBody>
      </p:sp>
      <p:sp>
        <p:nvSpPr>
          <p:cNvPr id="21" name="Text 13"/>
          <p:cNvSpPr/>
          <p:nvPr/>
        </p:nvSpPr>
        <p:spPr>
          <a:xfrm>
            <a:off x="6629346" y="5079457"/>
            <a:ext cx="4597391" cy="507910"/>
          </a:xfrm>
          <a:prstGeom prst="roundRect">
            <a:avLst>
              <a:gd name="adj" fmla="val 15003"/>
            </a:avLst>
          </a:prstGeom>
          <a:solidFill>
            <a:srgbClr val="1E293B"/>
          </a:solidFill>
          <a:ln/>
        </p:spPr>
        <p:txBody>
          <a:bodyPr wrap="none" lIns="130072" tIns="53882" rIns="1295" bIns="28428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style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={{ fontSize: </a:t>
            </a:r>
            <a:r>
              <a:rPr lang="en-US" sz="2000" dirty="0">
                <a:solidFill>
                  <a:srgbClr val="F78C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24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}}&gt;</a:t>
            </a:r>
            <a:endParaRPr lang="en-US" sz="2000" dirty="0"/>
          </a:p>
        </p:txBody>
      </p:sp>
      <p:sp>
        <p:nvSpPr>
          <p:cNvPr id="22" name="Text 14"/>
          <p:cNvSpPr/>
          <p:nvPr/>
        </p:nvSpPr>
        <p:spPr>
          <a:xfrm>
            <a:off x="10058418" y="6238287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914391"/>
            <a:ext cx="6320216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inside JSX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82" y="1727172"/>
            <a:ext cx="10883382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Curly braces open a window into JavaScript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782" y="2346883"/>
            <a:ext cx="5715000" cy="1828602"/>
          </a:xfrm>
          <a:prstGeom prst="roundRect">
            <a:avLst>
              <a:gd name="adj" fmla="val 6945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990573" y="2550057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6641" y="2550057"/>
            <a:ext cx="5208049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 = </a:t>
            </a:r>
            <a:r>
              <a:rPr lang="en-US" sz="2000" dirty="0">
                <a:solidFill>
                  <a:srgbClr val="C3E88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'Ana'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5173" y="2905620"/>
            <a:ext cx="5257827" cy="355564"/>
          </a:xfrm>
          <a:prstGeom prst="rect">
            <a:avLst/>
          </a:prstGeom>
          <a:solidFill>
            <a:srgbClr val="17384B"/>
          </a:solidFill>
          <a:ln/>
        </p:spPr>
        <p:txBody>
          <a:bodyPr wrap="none" lIns="201468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&gt;Hello, 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name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!&lt;/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90573" y="2905620"/>
            <a:ext cx="0" cy="355564"/>
          </a:xfrm>
          <a:prstGeom prst="line">
            <a:avLst/>
          </a:prstGeom>
          <a:noFill/>
          <a:ln w="50800">
            <a:solidFill>
              <a:srgbClr val="087E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0573" y="3261184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6641" y="3261184"/>
            <a:ext cx="5208049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r>
              <a:rPr lang="en-US" sz="2000" dirty="0">
                <a:solidFill>
                  <a:srgbClr val="F78C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+ </a:t>
            </a:r>
            <a:r>
              <a:rPr lang="en-US" sz="2000" dirty="0">
                <a:solidFill>
                  <a:srgbClr val="F78C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90573" y="3616748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6641" y="3616748"/>
            <a:ext cx="5208049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user.age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2782" y="4429485"/>
            <a:ext cx="10883382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Expressions only — no </a:t>
            </a:r>
            <a:r>
              <a:rPr lang="en-US" sz="24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</a:t>
            </a:r>
            <a:r>
              <a:rPr 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 </a:t>
            </a:r>
            <a:r>
              <a:rPr lang="en-US" sz="24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914391"/>
            <a:ext cx="630343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rendering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82" y="1727172"/>
            <a:ext cx="10883382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something only when…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782" y="2346883"/>
            <a:ext cx="8509000" cy="1117474"/>
          </a:xfrm>
          <a:prstGeom prst="roundRect">
            <a:avLst>
              <a:gd name="adj" fmla="val 11365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65173" y="2550055"/>
            <a:ext cx="8051827" cy="355564"/>
          </a:xfrm>
          <a:prstGeom prst="rect">
            <a:avLst/>
          </a:prstGeom>
          <a:solidFill>
            <a:srgbClr val="17384B"/>
          </a:solidFill>
          <a:ln/>
        </p:spPr>
        <p:txBody>
          <a:bodyPr wrap="none" lIns="201468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isOnline 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&amp;&amp;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span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&gt;Online&lt;/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span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90573" y="2550055"/>
            <a:ext cx="0" cy="355564"/>
          </a:xfrm>
          <a:prstGeom prst="line">
            <a:avLst/>
          </a:prstGeom>
          <a:noFill/>
          <a:ln w="50800">
            <a:solidFill>
              <a:srgbClr val="087E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573" y="2905621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6641" y="2905621"/>
            <a:ext cx="8085870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inStock 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?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button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&gt;Buy&lt;/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button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 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&gt;Sold out&lt;/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307" y="3727881"/>
            <a:ext cx="5455886" cy="686080"/>
          </a:xfrm>
          <a:prstGeom prst="roundRect">
            <a:avLst>
              <a:gd name="adj" fmla="val 1342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11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8664" y="3893117"/>
            <a:ext cx="355564" cy="3555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66619" y="3888067"/>
            <a:ext cx="4702049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Careful:</a:t>
            </a: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{count &amp;&amp; …} shows 0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914391"/>
            <a:ext cx="1689984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82" y="1676344"/>
            <a:ext cx="10883382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= arguments for components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93774" y="2245227"/>
            <a:ext cx="6604360" cy="660346"/>
          </a:xfrm>
          <a:prstGeom prst="roundRect">
            <a:avLst>
              <a:gd name="adj" fmla="val 15386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ProductCard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title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</a:t>
            </a:r>
            <a:r>
              <a:rPr lang="en-US" sz="2000" dirty="0">
                <a:solidFill>
                  <a:srgbClr val="C3E88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"Shoes"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price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r>
              <a:rPr lang="en-US" sz="2000" dirty="0">
                <a:solidFill>
                  <a:srgbClr val="F78C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50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/&gt;</a:t>
            </a:r>
            <a:endParaRPr lang="en-US" sz="2000" dirty="0"/>
          </a:p>
        </p:txBody>
      </p:sp>
      <p:pic>
        <p:nvPicPr>
          <p:cNvPr id="6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564" y="3057965"/>
            <a:ext cx="304782" cy="6095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54480" y="3829447"/>
            <a:ext cx="3282950" cy="1298124"/>
          </a:xfrm>
          <a:prstGeom prst="roundRect">
            <a:avLst>
              <a:gd name="adj" fmla="val 11006"/>
            </a:avLst>
          </a:prstGeom>
          <a:solidFill>
            <a:srgbClr val="FFFFFF"/>
          </a:solidFill>
          <a:ln w="19050">
            <a:solidFill>
              <a:srgbClr val="087EA4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41664" y="4065801"/>
            <a:ext cx="2789839" cy="43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Shoes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741664" y="4525501"/>
            <a:ext cx="2789839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914391"/>
            <a:ext cx="5855277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Destructuring props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82" y="1676344"/>
            <a:ext cx="10883382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Destructuring makes props shorter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782" y="2245227"/>
            <a:ext cx="5130782" cy="2184165"/>
          </a:xfrm>
          <a:prstGeom prst="roundRect">
            <a:avLst>
              <a:gd name="adj" fmla="val 5815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990573" y="2448402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6641" y="2448402"/>
            <a:ext cx="460630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function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ProductCard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(props) {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90573" y="2803965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6641" y="2803965"/>
            <a:ext cx="460630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5173" y="3159528"/>
            <a:ext cx="4673609" cy="355564"/>
          </a:xfrm>
          <a:prstGeom prst="rect">
            <a:avLst/>
          </a:prstGeom>
          <a:solidFill>
            <a:srgbClr val="17384B"/>
          </a:solidFill>
          <a:ln/>
        </p:spPr>
        <p:txBody>
          <a:bodyPr wrap="none" lIns="201468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h3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props.title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h3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90573" y="3159528"/>
            <a:ext cx="0" cy="355564"/>
          </a:xfrm>
          <a:prstGeom prst="line">
            <a:avLst/>
          </a:prstGeom>
          <a:noFill/>
          <a:ln w="50800">
            <a:solidFill>
              <a:srgbClr val="087E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0573" y="3515094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6641" y="3515094"/>
            <a:ext cx="460630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);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90573" y="3870657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6641" y="3870657"/>
            <a:ext cx="460630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48346" y="2245227"/>
            <a:ext cx="1995424" cy="436833"/>
          </a:xfrm>
          <a:custGeom>
            <a:avLst/>
            <a:gdLst/>
            <a:ahLst/>
            <a:cxnLst/>
            <a:rect l="l" t="t" r="r" b="b"/>
            <a:pathLst>
              <a:path w="1995424" h="436833">
                <a:moveTo>
                  <a:pt x="218417" y="0"/>
                </a:moveTo>
                <a:lnTo>
                  <a:pt x="1777008" y="0"/>
                </a:lnTo>
                <a:arcTo hR="218417" wR="218417" stAng="16200000" swAng="5400000"/>
                <a:lnTo>
                  <a:pt x="1995424" y="218417"/>
                </a:lnTo>
                <a:arcTo hR="218417" wR="218417" stAng="0" swAng="5400000"/>
                <a:lnTo>
                  <a:pt x="218417" y="436833"/>
                </a:lnTo>
                <a:arcTo hR="218417" wR="218417" stAng="5400000" swAng="5400000"/>
                <a:lnTo>
                  <a:pt x="0" y="218417"/>
                </a:lnTo>
                <a:arcTo hR="218417" wR="218417" stAng="10800000" swAng="5400000"/>
                <a:close/>
              </a:path>
            </a:pathLst>
          </a:custGeom>
          <a:solidFill>
            <a:srgbClr val="16A34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 preferred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48346" y="2783625"/>
            <a:ext cx="5130782" cy="2184165"/>
          </a:xfrm>
          <a:prstGeom prst="roundRect">
            <a:avLst>
              <a:gd name="adj" fmla="val 5815"/>
            </a:avLst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6426137" y="2986798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2205" y="2986798"/>
            <a:ext cx="460630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function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ProductCard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737" y="3342363"/>
            <a:ext cx="4673609" cy="355564"/>
          </a:xfrm>
          <a:prstGeom prst="rect">
            <a:avLst/>
          </a:prstGeom>
          <a:solidFill>
            <a:srgbClr val="17384B"/>
          </a:solidFill>
          <a:ln/>
        </p:spPr>
        <p:txBody>
          <a:bodyPr wrap="none" lIns="201468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title, price 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26137" y="3342363"/>
            <a:ext cx="0" cy="355564"/>
          </a:xfrm>
          <a:prstGeom prst="line">
            <a:avLst/>
          </a:prstGeom>
          <a:noFill/>
          <a:ln w="50800">
            <a:solidFill>
              <a:srgbClr val="087EA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6137" y="3697926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2205" y="3697926"/>
            <a:ext cx="460630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 {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26137" y="4053489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2205" y="4053489"/>
            <a:ext cx="460630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h3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title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h3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&gt;;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426137" y="4409055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2205" y="4409055"/>
            <a:ext cx="4606305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6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914394"/>
            <a:ext cx="5740003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are read-only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82" y="1676347"/>
            <a:ext cx="10883382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flows down. A child never changes its props.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81525" y="2549525"/>
            <a:ext cx="3028950" cy="742950"/>
          </a:xfrm>
          <a:prstGeom prst="roundRect">
            <a:avLst>
              <a:gd name="adj" fmla="val 19231"/>
            </a:avLst>
          </a:prstGeom>
          <a:solidFill>
            <a:srgbClr val="F0F9FF"/>
          </a:solidFill>
          <a:ln w="19050">
            <a:solidFill>
              <a:srgbClr val="087EA4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81525" y="4835528"/>
            <a:ext cx="3028950" cy="742950"/>
          </a:xfrm>
          <a:prstGeom prst="roundRect">
            <a:avLst>
              <a:gd name="adj" fmla="val 19231"/>
            </a:avLst>
          </a:prstGeom>
          <a:solidFill>
            <a:srgbClr val="F0F9FF"/>
          </a:solidFill>
          <a:ln w="19050">
            <a:solidFill>
              <a:srgbClr val="087EA4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</a:t>
            </a:r>
            <a:endParaRPr lang="en-US" sz="28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5492750" y="3257534"/>
            <a:ext cx="190500" cy="1600173"/>
          </a:xfrm>
          <a:prstGeom prst="rect">
            <a:avLst/>
          </a:prstGeom>
        </p:spPr>
      </p:pic>
      <p:pic>
        <p:nvPicPr>
          <p:cNvPr id="8" name="Image 1" descr="connector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508750" y="3270250"/>
            <a:ext cx="190500" cy="1600173"/>
          </a:xfrm>
          <a:prstGeom prst="rect">
            <a:avLst/>
          </a:prstGeom>
        </p:spPr>
      </p:pic>
      <p:pic>
        <p:nvPicPr>
          <p:cNvPr id="9" name="Image 2" descr="Crossed out: the child cannot send changes u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75391" y="3835391"/>
            <a:ext cx="457173" cy="4571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39135" y="3879816"/>
            <a:ext cx="2158365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 props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048500" y="3879816"/>
            <a:ext cx="2354580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✘ change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914388"/>
            <a:ext cx="236809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children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82" y="1701732"/>
            <a:ext cx="10883382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between the tags arrives as children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782" y="2296009"/>
            <a:ext cx="8255000" cy="2895293"/>
          </a:xfrm>
          <a:prstGeom prst="roundRect">
            <a:avLst>
              <a:gd name="adj" fmla="val 4386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990573" y="2499184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6641" y="2499184"/>
            <a:ext cx="7824250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Box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90573" y="2854747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6641" y="2854747"/>
            <a:ext cx="7824250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&gt;Hi!&lt;/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90573" y="3210309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6641" y="3210309"/>
            <a:ext cx="7824250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Box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90573" y="3565872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0573" y="3921441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6641" y="3921441"/>
            <a:ext cx="7824250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function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Box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({ children }) {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5173" y="4277004"/>
            <a:ext cx="7797827" cy="355564"/>
          </a:xfrm>
          <a:prstGeom prst="rect">
            <a:avLst/>
          </a:prstGeom>
          <a:solidFill>
            <a:srgbClr val="17384B"/>
          </a:solidFill>
          <a:ln/>
        </p:spPr>
        <p:txBody>
          <a:bodyPr wrap="none" lIns="201468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div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className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</a:t>
            </a:r>
            <a:r>
              <a:rPr lang="en-US" sz="2000" dirty="0">
                <a:solidFill>
                  <a:srgbClr val="C3E88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"box"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children</a:t>
            </a:r>
            <a:r>
              <a:rPr lang="en-US" sz="2000" dirty="0">
                <a:solidFill>
                  <a:srgbClr val="89DD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div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0573" y="4277004"/>
            <a:ext cx="0" cy="355564"/>
          </a:xfrm>
          <a:prstGeom prst="line">
            <a:avLst/>
          </a:prstGeom>
          <a:noFill/>
          <a:ln w="50800">
            <a:solidFill>
              <a:srgbClr val="087EA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0573" y="4632567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6641" y="4632567"/>
            <a:ext cx="7824250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914388"/>
            <a:ext cx="4111986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Lists and keys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82" y="1650950"/>
            <a:ext cx="10883382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an array into components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782" y="2194446"/>
            <a:ext cx="10287000" cy="2895293"/>
          </a:xfrm>
          <a:prstGeom prst="roundRect">
            <a:avLst>
              <a:gd name="adj" fmla="val 4386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990573" y="2397621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6641" y="2397621"/>
            <a:ext cx="9917209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products = [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90573" y="2753184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6641" y="2753184"/>
            <a:ext cx="9917209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{ id: </a:t>
            </a:r>
            <a:r>
              <a:rPr lang="en-US" sz="2000" dirty="0">
                <a:solidFill>
                  <a:srgbClr val="F78C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title: </a:t>
            </a:r>
            <a:r>
              <a:rPr lang="en-US" sz="2000" dirty="0">
                <a:solidFill>
                  <a:srgbClr val="C3E88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'Shoes'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price: </a:t>
            </a:r>
            <a:r>
              <a:rPr lang="en-US" sz="2000" dirty="0">
                <a:solidFill>
                  <a:srgbClr val="F78C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50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},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90573" y="3108747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6641" y="3108747"/>
            <a:ext cx="9917209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{ id: </a:t>
            </a:r>
            <a:r>
              <a:rPr lang="en-US" sz="2000" dirty="0">
                <a:solidFill>
                  <a:srgbClr val="F78C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title: </a:t>
            </a:r>
            <a:r>
              <a:rPr lang="en-US" sz="2000" dirty="0">
                <a:solidFill>
                  <a:srgbClr val="C3E88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'Hat'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price: </a:t>
            </a:r>
            <a:r>
              <a:rPr lang="en-US" sz="2000" dirty="0">
                <a:solidFill>
                  <a:srgbClr val="F78C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},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90573" y="3464309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6641" y="3464309"/>
            <a:ext cx="9917209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];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90573" y="3819872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6641" y="3819872"/>
            <a:ext cx="9917209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products.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map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(p =&gt; (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5173" y="4175441"/>
            <a:ext cx="9829826" cy="355564"/>
          </a:xfrm>
          <a:prstGeom prst="rect">
            <a:avLst/>
          </a:prstGeom>
          <a:solidFill>
            <a:srgbClr val="17384B"/>
          </a:solidFill>
          <a:ln/>
        </p:spPr>
        <p:txBody>
          <a:bodyPr wrap="none" lIns="201468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&lt;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ProductCard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b="1" u="sng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key</a:t>
            </a:r>
            <a:r>
              <a:rPr lang="en-US" sz="2000" b="1" u="sng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={p.id}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title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={p.title} </a:t>
            </a: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price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={p.price} /&gt;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0573" y="4175441"/>
            <a:ext cx="0" cy="355564"/>
          </a:xfrm>
          <a:prstGeom prst="line">
            <a:avLst/>
          </a:prstGeom>
          <a:noFill/>
          <a:ln w="50800">
            <a:solidFill>
              <a:srgbClr val="087E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0573" y="4531004"/>
            <a:ext cx="0" cy="355564"/>
          </a:xfrm>
          <a:prstGeom prst="line">
            <a:avLst/>
          </a:prstGeom>
          <a:noFill/>
          <a:ln w="508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6641" y="4531004"/>
            <a:ext cx="9917209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))</a:t>
            </a:r>
            <a:endParaRPr lang="en-US" sz="2000" dirty="0"/>
          </a:p>
        </p:txBody>
      </p:sp>
      <p:pic>
        <p:nvPicPr>
          <p:cNvPr id="20" name="Image 0" descr="Ke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782" y="5297965"/>
            <a:ext cx="304782" cy="30478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44564" y="5267523"/>
            <a:ext cx="3926844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</a:t>
            </a:r>
            <a:r>
              <a:rPr lang="en-US" sz="2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unique, stable id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914388"/>
            <a:ext cx="3174369" cy="584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Homework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9132" y="1784300"/>
            <a:ext cx="7607300" cy="2875197"/>
          </a:xfrm>
          <a:prstGeom prst="roundRect">
            <a:avLst>
              <a:gd name="adj" fmla="val 5080"/>
            </a:avLst>
          </a:prstGeom>
          <a:solidFill>
            <a:srgbClr val="F0F9FF"/>
          </a:solidFill>
          <a:ln w="12700">
            <a:solidFill>
              <a:srgbClr val="087EA4"/>
            </a:solidFill>
            <a:prstDash val="solid"/>
          </a:ln>
        </p:spPr>
      </p:sp>
      <p:pic>
        <p:nvPicPr>
          <p:cNvPr id="5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30718" y="2165356"/>
            <a:ext cx="406391" cy="4063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9500" y="2145060"/>
            <a:ext cx="2620187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page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1243418" y="2851119"/>
            <a:ext cx="253991" cy="253991"/>
          </a:xfrm>
          <a:prstGeom prst="roundRect">
            <a:avLst>
              <a:gd name="adj" fmla="val 20001"/>
            </a:avLst>
          </a:prstGeom>
          <a:solidFill>
            <a:srgbClr val="FFFFFF"/>
          </a:solidFill>
          <a:ln w="25400">
            <a:solidFill>
              <a:srgbClr val="087EA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87891" y="2795259"/>
            <a:ext cx="3430623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Array of 4–6 people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43418" y="3420002"/>
            <a:ext cx="253991" cy="253991"/>
          </a:xfrm>
          <a:prstGeom prst="roundRect">
            <a:avLst>
              <a:gd name="adj" fmla="val 20001"/>
            </a:avLst>
          </a:prstGeom>
          <a:solidFill>
            <a:srgbClr val="FFFFFF"/>
          </a:solidFill>
          <a:ln w="25400">
            <a:solidFill>
              <a:srgbClr val="087EA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87891" y="3364142"/>
            <a:ext cx="5138683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TeamMemberCard with props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243418" y="3988891"/>
            <a:ext cx="253991" cy="253991"/>
          </a:xfrm>
          <a:prstGeom prst="roundRect">
            <a:avLst>
              <a:gd name="adj" fmla="val 20001"/>
            </a:avLst>
          </a:prstGeom>
          <a:solidFill>
            <a:srgbClr val="FFFFFF"/>
          </a:solidFill>
          <a:ln w="25400">
            <a:solidFill>
              <a:srgbClr val="087EA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87891" y="3933031"/>
            <a:ext cx="5260668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“Online” badge only if isOnline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act · Lecture 2: Components, JSX rules and props">
  <a:themeElements>
    <a:clrScheme name="React · Lecture 2: Components, JSX rules and props">
      <a:dk1>
        <a:srgbClr val="0F172A"/>
      </a:dk1>
      <a:lt1>
        <a:srgbClr val="FFFFFF"/>
      </a:lt1>
      <a:dk2>
        <a:srgbClr val="4B515F"/>
      </a:dk2>
      <a:lt2>
        <a:srgbClr val="E7E8EA"/>
      </a:lt2>
      <a:accent1>
        <a:srgbClr val="087EA4"/>
      </a:accent1>
      <a:accent2>
        <a:srgbClr val="64748B"/>
      </a:accent2>
      <a:accent3>
        <a:srgbClr val="17384B"/>
      </a:accent3>
      <a:accent4>
        <a:srgbClr val="16A34A"/>
      </a:accent4>
      <a:accent5>
        <a:srgbClr val="7C3AED"/>
      </a:accent5>
      <a:accent6>
        <a:srgbClr val="BE185D"/>
      </a:accent6>
      <a:hlink>
        <a:srgbClr val="0563C1"/>
      </a:hlink>
      <a:folHlink>
        <a:srgbClr val="954F72"/>
      </a:folHlink>
    </a:clrScheme>
    <a:fontScheme name="React · Lecture 2: Components, JSX rules and props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· Lecture 2: Components, JSX rules and props</dc:title>
  <dc:subject/>
  <dc:creator/>
  <cp:lastModifiedBy/>
  <cp:revision>1</cp:revision>
  <dcterms:created xsi:type="dcterms:W3CDTF">2026-10-07T14:34:25Z</dcterms:created>
  <dcterms:modified xsi:type="dcterms:W3CDTF">2026-10-07T14:34:25Z</dcterms:modified>
</cp:coreProperties>
</file>