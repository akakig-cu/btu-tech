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4" r:id="rId7"/>
    <p:sldId id="262" r:id="rId8"/>
    <p:sldId id="263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258C-B6C1-52D6-69C3-33514B2FD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1B726-68D8-C274-CC6D-B694019B2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C76B-F8D2-BD79-736B-EE527A09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86AC-78D3-B15F-33B4-BBB44A9F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94B0-6462-1DF0-9AF9-542C3A0E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23643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0EE0-E69E-D826-B880-678B0D0B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B3D5-A31D-29C1-C24D-C9FE7C34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8C88D-A12F-A3B0-028D-C7E9AC91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40040-9135-3FDE-5D2F-36985CF1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08C45-520F-DD4A-61DD-C1208DD6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7793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567F-C19B-1183-E054-75F45427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9FD1E-BF30-420A-8CBD-D11236982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621C-902E-BEA7-A4F2-352D0663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3461B-90D5-CE77-AAB9-B2F9B057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D1431-87B3-14E3-0DF0-09998A06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07012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5B3F-C044-F697-747B-E1B1277E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55D2-3515-0449-08BF-F08D0A666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29899-81E6-023B-B410-7EF00D09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22434-8D28-145A-5801-59795001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4534-0C24-BE86-0363-B241E899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86909-6A0D-5C1E-D681-638D41CA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3188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556C-22E9-0D0C-A083-3BF0A4C3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30973-4CB1-072B-7106-B7B1AE6C7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E7D8C-F02D-C816-63B0-1BA7B1932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4FA0B-626A-A99D-ACED-B9BE689D9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76FDA-4F28-310E-DC81-3521D3C72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10400-9630-B272-B644-6173C8B7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2D2B6F-18B9-8192-3CA7-D5317FCE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A5418-960F-B0C0-D51F-DED7A22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73077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2D7E-7692-F0C6-28A7-D2EBC17A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1130B-D5E4-0806-FEC9-18889B2E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28AD7-D27B-F5E4-7208-23928B24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C02E-D929-C589-8C1C-32944D2F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26405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C5260-965D-28E5-2C8E-D940E1B5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FAA6E-22D5-D381-21FC-EC6733A4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BFE7-1A92-E59E-B866-E6F7BD36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96000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9E42-8ED6-8EC5-649E-02F399E7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5614-12EA-94E1-3109-0D410415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A5CCC-403F-F658-7E59-8954D4DC8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A0B92-0212-6D33-2A6F-F178BC2F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BF148-FE21-57D9-E1E9-164B7F5C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9F5E7-DF3F-71D9-101C-1CB98C8E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174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8B24-7D17-9F4C-D800-2FCF339C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64941-213D-F01F-0087-787D592C1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21291-3C0E-9A60-5978-F104C2E21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27A17-1877-90D6-AC8A-B64995CA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8715B-871E-266B-4FE7-05CA390E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1744-0A07-8EE9-56AB-5393A32D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25844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A996-8CE8-3E3A-5788-D5056F5D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740F7-EE62-A58E-50DE-CED5622A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F238D-92D4-6557-1649-7CC7E8E8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25155-9B5B-5539-454F-A56F895B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355F5-8A30-5CBE-3E20-EC42F836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17789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95F22-5215-6618-866E-0E312E98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E0B93-2C2C-06FC-E103-30AC923E9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5399-EA11-23F9-577A-953116E3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245D3-FFA2-D028-BFD6-8AA157E7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42247-E8B3-9705-60D0-CDACB91B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04615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42BF3-DF4E-D850-EC43-720750C0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A9784-913B-B639-AFDC-C3A31222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28E88-5A2B-110F-F383-48FAE5E5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4D7AD-2F91-FD4A-BFE9-474CC65F5EE7}" type="datetimeFigureOut">
              <a:rPr lang="en-GE" smtClean="0"/>
              <a:t>20.08.25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5FA42-C15D-B2EE-9E9E-E352EE926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7450-3BCD-D6EA-D931-4AB1C9F2C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FC4F0-22B2-AD42-9A36-3F54CD7BF12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632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DC4AE-0159-91A1-D558-C5A6CAB7E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GE" dirty="0"/>
              <a:t>JavaScript </a:t>
            </a:r>
            <a:endParaRPr lang="en-G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40730-FB58-39D4-046B-156487711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the language that turns static pages into living, breathing experiences on the web.</a:t>
            </a:r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972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F8A9C-13F0-15CA-9872-DD223DE0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3626A-4F4C-6EC5-1A62-A7DB00826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created in </a:t>
            </a:r>
            <a:r>
              <a:rPr lang="en-GB" sz="2000" b="1"/>
              <a:t>May 1995</a:t>
            </a:r>
            <a:r>
              <a:rPr lang="en-GB" sz="2000"/>
              <a:t> by </a:t>
            </a:r>
            <a:r>
              <a:rPr lang="en-GB" sz="2000" b="1"/>
              <a:t>Brendan Eich</a:t>
            </a:r>
            <a:r>
              <a:rPr lang="en-GB" sz="2000"/>
              <a:t> at Netscape, and astonishingly, its first working version was built in just </a:t>
            </a:r>
            <a:r>
              <a:rPr lang="en-GB" sz="2000" b="1"/>
              <a:t>10 days</a:t>
            </a:r>
            <a:r>
              <a:rPr lang="en-GB" sz="2000"/>
              <a:t>.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59474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57148-E362-7E26-C7FB-FD29103F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Javascript and Java</a:t>
            </a:r>
          </a:p>
        </p:txBody>
      </p:sp>
      <p:pic>
        <p:nvPicPr>
          <p:cNvPr id="1026" name="Picture 2" descr="Java vs JavaScript: Key Features, Differences &amp; Benefits - TatvaSoft Blog">
            <a:extLst>
              <a:ext uri="{FF2B5EF4-FFF2-40B4-BE49-F238E27FC236}">
                <a16:creationId xmlns:a16="http://schemas.microsoft.com/office/drawing/2014/main" id="{5BBF0BD3-B395-737D-BF16-A80A6C77B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7005" y="2354239"/>
            <a:ext cx="7817990" cy="394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23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17AEF-0CAE-B2A2-7E3D-A467A0AD1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 dirty="0"/>
              <a:t>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65415-2885-3C3E-2895-F3A678EA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1. Number      – integers and floating-point numbers (e.g., 42, 3.14)</a:t>
            </a:r>
          </a:p>
          <a:p>
            <a:pPr marL="0" indent="0">
              <a:buNone/>
            </a:pPr>
            <a:r>
              <a:rPr lang="en-GB" sz="1900" dirty="0"/>
              <a:t>2. </a:t>
            </a:r>
            <a:r>
              <a:rPr lang="en-GB" sz="1900" dirty="0" err="1"/>
              <a:t>BigInt</a:t>
            </a:r>
            <a:r>
              <a:rPr lang="en-GB" sz="1900" dirty="0"/>
              <a:t>      – integers larger than </a:t>
            </a:r>
            <a:r>
              <a:rPr lang="en-GB" sz="1900" dirty="0" err="1"/>
              <a:t>Number.MAX_SAFE_INTEGER</a:t>
            </a:r>
            <a:r>
              <a:rPr lang="en-GB" sz="1900" dirty="0"/>
              <a:t> (e.g., 9007199254740991n)</a:t>
            </a:r>
          </a:p>
          <a:p>
            <a:pPr marL="0" indent="0">
              <a:buNone/>
            </a:pPr>
            <a:r>
              <a:rPr lang="en-GB" sz="1900" dirty="0"/>
              <a:t>3. String      – text (e.g., "Hello World")</a:t>
            </a:r>
          </a:p>
          <a:p>
            <a:pPr marL="0" indent="0">
              <a:buNone/>
            </a:pPr>
            <a:r>
              <a:rPr lang="en-GB" sz="1900" dirty="0"/>
              <a:t>4. Boolean     – true or false</a:t>
            </a:r>
          </a:p>
          <a:p>
            <a:pPr marL="0" indent="0">
              <a:buNone/>
            </a:pPr>
            <a:r>
              <a:rPr lang="en-GB" sz="1900" dirty="0"/>
              <a:t>5. Undefined   – a variable that has been declared but not assigned</a:t>
            </a:r>
          </a:p>
          <a:p>
            <a:pPr marL="0" indent="0">
              <a:buNone/>
            </a:pPr>
            <a:r>
              <a:rPr lang="en-GB" sz="1900" dirty="0"/>
              <a:t>6. Null        – represents “no value”</a:t>
            </a:r>
          </a:p>
          <a:p>
            <a:pPr marL="0" indent="0">
              <a:buNone/>
            </a:pPr>
            <a:r>
              <a:rPr lang="en-GB" sz="1900" dirty="0"/>
              <a:t>7. Symbol      – unique and immutable identifiers (e.g., Symbol('id'))</a:t>
            </a:r>
          </a:p>
          <a:p>
            <a:pPr marL="0" indent="0">
              <a:buNone/>
            </a:pPr>
            <a:r>
              <a:rPr lang="en-GB" sz="1900" dirty="0"/>
              <a:t>8. Object      – collections of key-value pairs or complex data (e.g., {name: "Alice"})</a:t>
            </a:r>
          </a:p>
          <a:p>
            <a:endParaRPr lang="en-GE" sz="1900" dirty="0"/>
          </a:p>
        </p:txBody>
      </p:sp>
    </p:spTree>
    <p:extLst>
      <p:ext uri="{BB962C8B-B14F-4D97-AF65-F5344CB8AC3E}">
        <p14:creationId xmlns:p14="http://schemas.microsoft.com/office/powerpoint/2010/main" val="255447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6C82B-18CA-1F89-D92F-9FB1A306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Check data type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276E-6613-B722-1B20-E6947B865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Typeof &lt;variable&gt;</a:t>
            </a:r>
          </a:p>
        </p:txBody>
      </p:sp>
    </p:spTree>
    <p:extLst>
      <p:ext uri="{BB962C8B-B14F-4D97-AF65-F5344CB8AC3E}">
        <p14:creationId xmlns:p14="http://schemas.microsoft.com/office/powerpoint/2010/main" val="34033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42071-EC03-4E08-FF79-99278FB7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B32A-C96D-3FF9-D03E-AEE2B5EF4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A </a:t>
            </a:r>
            <a:r>
              <a:rPr lang="en-GB" sz="2400" b="1"/>
              <a:t>variable</a:t>
            </a:r>
            <a:r>
              <a:rPr lang="en-GB" sz="2400"/>
              <a:t> is a named container in JavaScript that stores data values which can change during program execution.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1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B4DFA-F1D7-7DD1-CB90-92850C7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DB643-5BD2-8E6D-C230-4F5C358AC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v</a:t>
            </a:r>
            <a:r>
              <a:rPr lang="en-GE" sz="2000"/>
              <a:t>ar</a:t>
            </a:r>
          </a:p>
          <a:p>
            <a:pPr marL="0" indent="0">
              <a:buNone/>
            </a:pPr>
            <a:r>
              <a:rPr lang="en-GE" sz="2000"/>
              <a:t>let</a:t>
            </a:r>
          </a:p>
          <a:p>
            <a:pPr marL="0" indent="0">
              <a:buNone/>
            </a:pPr>
            <a:r>
              <a:rPr lang="en-GB" sz="2000"/>
              <a:t>c</a:t>
            </a:r>
            <a:r>
              <a:rPr lang="en-GE" sz="2000"/>
              <a:t>onst </a:t>
            </a:r>
          </a:p>
        </p:txBody>
      </p:sp>
    </p:spTree>
    <p:extLst>
      <p:ext uri="{BB962C8B-B14F-4D97-AF65-F5344CB8AC3E}">
        <p14:creationId xmlns:p14="http://schemas.microsoft.com/office/powerpoint/2010/main" val="326532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D3FDF-DB64-9812-36A7-A1F29F51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Declaration vs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93BF-8EE9-53D3-84B0-2F1B9A18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v</a:t>
            </a:r>
            <a:r>
              <a:rPr lang="en-GE" sz="2000"/>
              <a:t>ar a – declaration</a:t>
            </a:r>
          </a:p>
          <a:p>
            <a:pPr marL="0" indent="0">
              <a:buNone/>
            </a:pPr>
            <a:r>
              <a:rPr lang="en-GB" sz="2000"/>
              <a:t>v</a:t>
            </a:r>
            <a:r>
              <a:rPr lang="en-GE" sz="2000"/>
              <a:t>ar a = 5 -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81220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A14D6-9F48-CB96-74C6-913D9C44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ED5A-A032-39BC-61A0-AE6AE0A4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console.log(value)</a:t>
            </a:r>
          </a:p>
          <a:p>
            <a:pPr marL="0" indent="0">
              <a:buNone/>
            </a:pPr>
            <a:r>
              <a:rPr lang="en-GB" sz="2000"/>
              <a:t>var data = ’myData’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1320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E0E1B-7EE7-AD62-C107-3BA311E2A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Window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0A2C-EF78-394C-63D1-99AB08AE6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The </a:t>
            </a:r>
            <a:r>
              <a:rPr lang="en-GB" sz="2000" b="1"/>
              <a:t>window</a:t>
            </a:r>
            <a:r>
              <a:rPr lang="en-GB" sz="2000"/>
              <a:t> object in JavaScript represents the browser’s global context, giving access to the browser’s features, methods, and the DOM.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51062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B0AEC-EC1F-CD72-92F5-545E398F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EB3FC-C118-F4D4-B892-F14ECAC19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const name = "Alice";</a:t>
            </a:r>
          </a:p>
          <a:p>
            <a:pPr marL="0" indent="0">
              <a:buNone/>
            </a:pPr>
            <a:r>
              <a:rPr lang="en-GB" sz="2000"/>
              <a:t>console.log(`Hello, ${name}!`)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53964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E75E4-7972-FEC9-A6F7-B1341942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0504D-1ED7-9041-6357-133C8134A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Arithmetic (+, -, *, /, %)</a:t>
            </a:r>
          </a:p>
          <a:p>
            <a:r>
              <a:rPr lang="en-GB" sz="2000"/>
              <a:t>Assignment (+=, -=, *=, /=)</a:t>
            </a:r>
          </a:p>
          <a:p>
            <a:r>
              <a:rPr lang="en-GB" sz="2000"/>
              <a:t>Comparison (==, !=, &gt;, &lt;, &gt;=, &lt;=)</a:t>
            </a:r>
          </a:p>
          <a:p>
            <a:r>
              <a:rPr lang="en-GB" sz="2000"/>
              <a:t>Logical (&amp;&amp;, ||, !)</a:t>
            </a:r>
          </a:p>
          <a:p>
            <a:r>
              <a:rPr lang="en-GB" sz="2000"/>
              <a:t>String (+)</a:t>
            </a:r>
          </a:p>
          <a:p>
            <a:r>
              <a:rPr lang="en-GB" sz="2000"/>
              <a:t>Ternary (?:)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427071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D2E84-905E-D603-121B-692710CD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If Statement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C70C-B6B8-D09D-182B-0881B8702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if (x &gt; 5) { console.log("x &gt; 5"); 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43472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E76D1-E800-4A15-3830-A125E051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If-Else Statement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82C30-65C8-4C5D-D26F-5CCCC5AC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if (x &gt; 15) { console.log("x &gt; 15"); } </a:t>
            </a:r>
          </a:p>
          <a:p>
            <a:pPr marL="0" indent="0">
              <a:buNone/>
            </a:pPr>
            <a:r>
              <a:rPr lang="en-GB" sz="2000"/>
              <a:t>else { console.log("x &lt;= 15"); 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676223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B850B-1984-3CC7-4FA2-5B853A7E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Else-If Statement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C554-152C-066A-D902-48F67598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if (x &gt; 15) { console.log("x &gt; 15"); } </a:t>
            </a:r>
          </a:p>
          <a:p>
            <a:pPr marL="0" indent="0">
              <a:buNone/>
            </a:pPr>
            <a:r>
              <a:rPr lang="en-GB" sz="2000"/>
              <a:t>else if (x === 10) { console.log("x is 10"); } </a:t>
            </a:r>
          </a:p>
          <a:p>
            <a:pPr marL="0" indent="0">
              <a:buNone/>
            </a:pPr>
            <a:r>
              <a:rPr lang="en-GB" sz="2000"/>
              <a:t>else { console.log("x &lt; 10"); 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1331180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83D94-5A8B-14E5-9F60-5E88B176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Switch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1AFD-5617-1E92-3E61-E23D4652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let day = 3;           </a:t>
            </a:r>
          </a:p>
          <a:p>
            <a:pPr marL="0" indent="0">
              <a:buNone/>
            </a:pPr>
            <a:r>
              <a:rPr lang="en-GB" sz="2000"/>
              <a:t>switch(day) {</a:t>
            </a:r>
          </a:p>
          <a:p>
            <a:pPr marL="0" indent="0">
              <a:buNone/>
            </a:pPr>
            <a:r>
              <a:rPr lang="en-GB" sz="2000"/>
              <a:t> case 1: console.log("Monday"); break;</a:t>
            </a:r>
          </a:p>
          <a:p>
            <a:pPr marL="0" indent="0">
              <a:buNone/>
            </a:pPr>
            <a:r>
              <a:rPr lang="en-GB" sz="2000"/>
              <a:t> case 2: console.log("Tuesday"); break;</a:t>
            </a:r>
          </a:p>
          <a:p>
            <a:pPr marL="0" indent="0">
              <a:buNone/>
            </a:pPr>
            <a:r>
              <a:rPr lang="en-GB" sz="2000"/>
              <a:t> case 3: console.log("Wednesday"); break;</a:t>
            </a:r>
          </a:p>
          <a:p>
            <a:pPr marL="0" indent="0">
              <a:buNone/>
            </a:pPr>
            <a:r>
              <a:rPr lang="en-GB" sz="2000"/>
              <a:t> default: console.log("Other day");</a:t>
            </a:r>
          </a:p>
          <a:p>
            <a:pPr marL="0" indent="0">
              <a:buNone/>
            </a:pPr>
            <a:r>
              <a:rPr lang="en-GB" sz="2000"/>
              <a:t>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738434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49789-E969-B731-104B-B456DAD1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F</a:t>
            </a:r>
            <a:r>
              <a:rPr lang="en-GE" sz="5200"/>
              <a:t>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1E24-D16D-3F45-B6C0-0EE15E6C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for (let i = 0; i &lt; 5; i++) { console.log(i); 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67894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3AA6F-432E-3469-1469-0E57FA8A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While Loop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C82A-7A9A-6769-19D3-7F7043B4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while (i &lt; 5) { console.log(i); i++; 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13387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6FF1A-2AF7-13A1-23F0-AE61F2DD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Do-While Loop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5F021-EE7E-610D-74BD-D43EB63B0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let j = 0;</a:t>
            </a:r>
          </a:p>
          <a:p>
            <a:pPr marL="0" indent="0">
              <a:buNone/>
            </a:pPr>
            <a:r>
              <a:rPr lang="en-GB" sz="2000"/>
              <a:t>do { console.log(j); j++; } while (j &lt; 5);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01293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43B66-2D2D-B305-2F55-D8B190F7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Break Statement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EEC7-B4D5-02EA-3114-61EF8D27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for (let i = 0; i &lt; 10; i++) {</a:t>
            </a:r>
          </a:p>
          <a:p>
            <a:pPr marL="0" indent="0">
              <a:buNone/>
            </a:pPr>
            <a:r>
              <a:rPr lang="en-GB" sz="2000"/>
              <a:t>     if (i === 3) break; </a:t>
            </a:r>
          </a:p>
          <a:p>
            <a:pPr marL="0" indent="0">
              <a:buNone/>
            </a:pPr>
            <a:r>
              <a:rPr lang="en-GB" sz="2000"/>
              <a:t>     console.log(i);</a:t>
            </a:r>
          </a:p>
          <a:p>
            <a:pPr marL="0" indent="0">
              <a:buNone/>
            </a:pPr>
            <a:r>
              <a:rPr lang="en-GB" sz="2000"/>
              <a:t>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1680270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8DD89-3B7E-665D-D4C3-B19BC806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Continue Statement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E5CD-97CC-2C03-03C8-1FA4DF7B1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for (let i = 0; i &lt; 5; i++) {</a:t>
            </a:r>
          </a:p>
          <a:p>
            <a:pPr marL="0" indent="0">
              <a:buNone/>
            </a:pPr>
            <a:r>
              <a:rPr lang="en-GB" sz="2000"/>
              <a:t>    if (i === 2) continue; </a:t>
            </a:r>
          </a:p>
          <a:p>
            <a:pPr marL="0" indent="0">
              <a:buNone/>
            </a:pPr>
            <a:r>
              <a:rPr lang="en-GB" sz="2000"/>
              <a:t>    console.log(i); </a:t>
            </a:r>
          </a:p>
          <a:p>
            <a:pPr marL="0" indent="0">
              <a:buNone/>
            </a:pPr>
            <a:r>
              <a:rPr lang="en-GB" sz="2000"/>
              <a:t>}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209043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580</Words>
  <Application>Microsoft Macintosh PowerPoint</Application>
  <PresentationFormat>Widescreen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JavaScript </vt:lpstr>
      <vt:lpstr>History</vt:lpstr>
      <vt:lpstr>Javascript and Java</vt:lpstr>
      <vt:lpstr>Data types </vt:lpstr>
      <vt:lpstr>Check data type</vt:lpstr>
      <vt:lpstr>Variable</vt:lpstr>
      <vt:lpstr>Variables</vt:lpstr>
      <vt:lpstr>Declaration vs Initialization</vt:lpstr>
      <vt:lpstr>Hoisting</vt:lpstr>
      <vt:lpstr>Window object</vt:lpstr>
      <vt:lpstr>Template Literals</vt:lpstr>
      <vt:lpstr>Operators</vt:lpstr>
      <vt:lpstr>If Statement</vt:lpstr>
      <vt:lpstr>If-Else Statement</vt:lpstr>
      <vt:lpstr>Else-If Statement</vt:lpstr>
      <vt:lpstr>Switch statement</vt:lpstr>
      <vt:lpstr>For loop</vt:lpstr>
      <vt:lpstr>While Loop</vt:lpstr>
      <vt:lpstr>Do-While Loop</vt:lpstr>
      <vt:lpstr>Break Statement</vt:lpstr>
      <vt:lpstr>Continue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1</cp:revision>
  <dcterms:created xsi:type="dcterms:W3CDTF">2025-08-20T11:51:35Z</dcterms:created>
  <dcterms:modified xsi:type="dcterms:W3CDTF">2025-08-20T12:35:15Z</dcterms:modified>
</cp:coreProperties>
</file>